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60" r:id="rId4"/>
    <p:sldId id="275" r:id="rId5"/>
    <p:sldId id="261" r:id="rId6"/>
    <p:sldId id="263" r:id="rId7"/>
    <p:sldId id="271" r:id="rId8"/>
    <p:sldId id="265" r:id="rId9"/>
    <p:sldId id="267" r:id="rId10"/>
    <p:sldId id="274" r:id="rId11"/>
    <p:sldId id="268" r:id="rId12"/>
    <p:sldId id="273" r:id="rId13"/>
    <p:sldId id="272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4E27F3-D382-4A39-9302-3D5F9263E9DF}">
  <a:tblStyle styleId="{924E27F3-D382-4A39-9302-3D5F9263E9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80F06E-6A93-3EF4-3BFC-397EE90B1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>
            <a:extLst>
              <a:ext uri="{FF2B5EF4-FFF2-40B4-BE49-F238E27FC236}">
                <a16:creationId xmlns:a16="http://schemas.microsoft.com/office/drawing/2014/main" id="{7649F39C-AE50-D1F4-3C5D-8EF0905D9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p4:notes">
            <a:extLst>
              <a:ext uri="{FF2B5EF4-FFF2-40B4-BE49-F238E27FC236}">
                <a16:creationId xmlns:a16="http://schemas.microsoft.com/office/drawing/2014/main" id="{8554C3F1-25B7-BB27-A5A0-6A01589B2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63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3d490cb365f11fc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h3d490cb365f11fc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F3BE9C6E-46BA-71D7-17A0-0160EFF2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>
            <a:extLst>
              <a:ext uri="{FF2B5EF4-FFF2-40B4-BE49-F238E27FC236}">
                <a16:creationId xmlns:a16="http://schemas.microsoft.com/office/drawing/2014/main" id="{E1FE5DA2-C905-7F30-BA27-276E2E0FF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:notes">
            <a:extLst>
              <a:ext uri="{FF2B5EF4-FFF2-40B4-BE49-F238E27FC236}">
                <a16:creationId xmlns:a16="http://schemas.microsoft.com/office/drawing/2014/main" id="{2AC8C33D-200B-22A8-676E-0F7AED380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8344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4745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5095726"/>
            <a:ext cx="1066800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5095726"/>
            <a:ext cx="10668000" cy="9525"/>
          </a:xfrm>
          <a:prstGeom prst="rect">
            <a:avLst/>
          </a:prstGeom>
          <a:solidFill>
            <a:srgbClr val="3E44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609600"/>
            <a:ext cx="50006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3E444A"/>
                </a:solidFill>
                <a:latin typeface="Calibri"/>
              </a:defRPr>
            </a:pPr>
            <a:r>
              <a:rPr dirty="0"/>
              <a:t>Samsung PRISM GenAI Hackathon 3rd Edition | Theme 05: Real-Time Voice Agents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934325" y="609600"/>
            <a:ext cx="425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71767C"/>
                </a:solidFill>
                <a:latin typeface="Calibri"/>
              </a:defRPr>
            </a:pPr>
            <a:r>
              <a:t>Team AICA | VIT Vellore</a:t>
            </a:r>
            <a:endParaRPr b="1"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2231677"/>
            <a:ext cx="4772526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C49A6C"/>
                </a:solidFill>
                <a:latin typeface="Calibri"/>
              </a:defRPr>
            </a:pPr>
            <a:r>
              <a:rPr dirty="0"/>
              <a:t>DETERMINISTIC CONCURRENCY KERNEL FOR FULL-DUPLEX VOICE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2498377"/>
            <a:ext cx="114300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1F2326"/>
                </a:solidFill>
                <a:latin typeface="Calibri"/>
              </a:defRPr>
            </a:pPr>
            <a:r>
              <a:t>Janus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3359348"/>
            <a:ext cx="8667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F2326"/>
                </a:solidFill>
                <a:latin typeface="Calibri"/>
              </a:defRPr>
            </a:pPr>
            <a:r>
              <a:rPr dirty="0"/>
              <a:t>Models propose. One deterministic synchronous kernel decides.</a:t>
            </a:r>
            <a:endParaRPr dirty="0">
              <a:solidFill>
                <a:schemeClr val="tx1"/>
              </a:solidFill>
            </a:endParaRPr>
          </a:p>
          <a:p>
            <a:pPr>
              <a:defRPr sz="1300" b="0">
                <a:solidFill>
                  <a:srgbClr val="3E444A"/>
                </a:solidFill>
                <a:latin typeface="Calibri"/>
              </a:defRPr>
            </a:pPr>
            <a:r>
              <a:rPr dirty="0"/>
              <a:t>Zero double-bookings, zero phantom completions, and sub-millisecond preemption under live user interruptions.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2804219" y="5348240"/>
            <a:ext cx="243371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E444A"/>
                </a:solidFill>
                <a:latin typeface="Calibri"/>
              </a:defRPr>
            </a:pPr>
            <a:r>
              <a:rPr dirty="0"/>
              <a:t>FDB-V3 VOICE PASS@1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804219" y="5597845"/>
            <a:ext cx="204221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2B4C3F"/>
                </a:solidFill>
                <a:latin typeface="Calibri"/>
              </a:defRPr>
            </a:pPr>
            <a:r>
              <a:rPr lang="en-US" dirty="0"/>
              <a:t>82</a:t>
            </a:r>
            <a:r>
              <a:rPr dirty="0"/>
              <a:t>.0%</a:t>
            </a:r>
            <a:endParaRPr dirty="0">
              <a:solidFill>
                <a:srgbClr val="FF0000"/>
              </a:solidFill>
            </a:endParaRPr>
          </a:p>
          <a:p>
            <a:pPr>
              <a:defRPr sz="1000" b="0">
                <a:solidFill>
                  <a:srgbClr val="3E444A"/>
                </a:solidFill>
                <a:latin typeface="Calibri"/>
              </a:defRPr>
            </a:pPr>
            <a:r>
              <a:rPr dirty="0"/>
              <a:t>vs 60.0% GPT-Realtime SOTA</a:t>
            </a:r>
          </a:p>
        </p:txBody>
      </p:sp>
      <p:sp>
        <p:nvSpPr>
          <p:cNvPr id="95" name="Google Shape;95;p13"/>
          <p:cNvSpPr txBox="1"/>
          <p:nvPr/>
        </p:nvSpPr>
        <p:spPr>
          <a:xfrm>
            <a:off x="6359723" y="5371951"/>
            <a:ext cx="271090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E444A"/>
                </a:solidFill>
                <a:latin typeface="Calibri"/>
              </a:defRPr>
            </a:pPr>
            <a:r>
              <a:t>KERNEL STEP LATENCY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359723" y="5581501"/>
            <a:ext cx="2263973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2B4C3F"/>
                </a:solidFill>
                <a:latin typeface="Calibri"/>
              </a:defRPr>
            </a:pPr>
            <a:r>
              <a:t>&lt; 0.4 ms</a:t>
            </a:r>
            <a:endParaRPr dirty="0">
              <a:solidFill>
                <a:srgbClr val="FF0000"/>
              </a:solidFill>
            </a:endParaRPr>
          </a:p>
          <a:p>
            <a:pPr>
              <a:defRPr sz="1000" b="0">
                <a:solidFill>
                  <a:srgbClr val="3E444A"/>
                </a:solidFill>
                <a:latin typeface="Calibri"/>
              </a:defRPr>
            </a:pPr>
            <a:r>
              <a:t>0 async awaits in hot loop</a:t>
            </a:r>
          </a:p>
        </p:txBody>
      </p:sp>
      <p:sp>
        <p:nvSpPr>
          <p:cNvPr id="97" name="Google Shape;97;p13"/>
          <p:cNvSpPr txBox="1"/>
          <p:nvPr/>
        </p:nvSpPr>
        <p:spPr>
          <a:xfrm>
            <a:off x="9138046" y="5371951"/>
            <a:ext cx="286494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E444A"/>
                </a:solidFill>
                <a:latin typeface="Calibri"/>
              </a:defRPr>
            </a:pPr>
            <a:r>
              <a:t>DETERMINISTIC VERIFICATION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9138046" y="5581501"/>
            <a:ext cx="2387203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2B4C3F"/>
                </a:solidFill>
                <a:latin typeface="Calibri"/>
              </a:defRPr>
            </a:pPr>
            <a:r>
              <a:t>779 Tests</a:t>
            </a:r>
            <a:endParaRPr dirty="0">
              <a:solidFill>
                <a:srgbClr val="FF0000"/>
              </a:solidFill>
            </a:endParaRPr>
          </a:p>
          <a:p>
            <a:pPr>
              <a:defRPr sz="1000" b="0">
                <a:solidFill>
                  <a:srgbClr val="3E444A"/>
                </a:solidFill>
                <a:latin typeface="Calibri"/>
              </a:defRPr>
            </a:pPr>
            <a:r>
              <a:t>Stepped-clock replayable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3A97EEC5-6894-9221-AF31-E0E032CB948F}"/>
              </a:ext>
            </a:extLst>
          </p:cNvPr>
          <p:cNvSpPr txBox="1"/>
          <p:nvPr/>
        </p:nvSpPr>
        <p:spPr>
          <a:xfrm>
            <a:off x="8815136" y="2216348"/>
            <a:ext cx="4772526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1300" b="1">
                <a:solidFill>
                  <a:srgbClr val="C49A6C"/>
                </a:solidFill>
                <a:latin typeface="Calibri"/>
              </a:defRPr>
            </a:pPr>
            <a:r>
              <a:rPr lang="en-IN" dirty="0"/>
              <a:t>Built for the Samsung Language AI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685800" y="1417320"/>
            <a:ext cx="10817352" cy="1325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6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85800" y="2926080"/>
            <a:ext cx="3456432" cy="210803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6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370832" y="2926080"/>
            <a:ext cx="3456432" cy="210803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6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055864" y="2926080"/>
            <a:ext cx="3456432" cy="210803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6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8C3B2B"/>
                </a:solidFill>
                <a:latin typeface="Calibri"/>
              </a:defRPr>
            </a:pPr>
            <a:r>
              <a:t>1. UNDERSTANDING OF PROBLEM &amp; CAVEATS</a:t>
            </a:r>
          </a:p>
        </p:txBody>
      </p:sp>
      <p:sp>
        <p:nvSpPr>
          <p:cNvPr id="108" name="Google Shape;108;p14"/>
          <p:cNvSpPr txBox="1"/>
          <p:nvPr/>
        </p:nvSpPr>
        <p:spPr>
          <a:xfrm>
            <a:off x="685800" y="76200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F2326"/>
                </a:solidFill>
                <a:latin typeface="Calibri"/>
              </a:defRPr>
            </a:pPr>
            <a:r>
              <a:t>Why Loop-Based Voice Agents Fail Under Interruption</a:t>
            </a:r>
          </a:p>
        </p:txBody>
      </p:sp>
      <p:sp>
        <p:nvSpPr>
          <p:cNvPr id="109" name="Google Shape;109;p14"/>
          <p:cNvSpPr txBox="1"/>
          <p:nvPr/>
        </p:nvSpPr>
        <p:spPr>
          <a:xfrm>
            <a:off x="960120" y="1554480"/>
            <a:ext cx="102412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F2326"/>
                </a:solidFill>
                <a:latin typeface="Calibri"/>
              </a:defRPr>
            </a:pPr>
            <a:r>
              <a:rPr sz="1500" b="1"/>
              <a:t>Root Cause: Conflating Language Generation with State Mutation</a:t>
            </a:r>
          </a:p>
        </p:txBody>
      </p:sp>
      <p:sp>
        <p:nvSpPr>
          <p:cNvPr id="110" name="Google Shape;110;p14"/>
          <p:cNvSpPr txBox="1"/>
          <p:nvPr/>
        </p:nvSpPr>
        <p:spPr>
          <a:xfrm>
            <a:off x="960120" y="1874519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E444A"/>
                </a:solidFill>
                <a:latin typeface="Calibri"/>
              </a:defRPr>
            </a:pPr>
            <a:r>
              <a:rPr sz="1300" b="0" dirty="0"/>
              <a:t>Industry voice agents (GPT-Realtime, Gemini Live) let the LLM directly invoke tools and speak in a single loop. When users interrupt, network I/O, state changes, and speech synthesis race uncontrollably.</a:t>
            </a:r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3108960"/>
            <a:ext cx="301752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8C3B2B"/>
                </a:solidFill>
                <a:latin typeface="Calibri"/>
              </a:defRPr>
            </a:pPr>
            <a:r>
              <a:t>FAILURE MODE 01</a:t>
            </a:r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337560"/>
            <a:ext cx="30175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F2326"/>
                </a:solidFill>
                <a:latin typeface="Calibri"/>
              </a:defRPr>
            </a:pPr>
            <a:r>
              <a:rPr sz="1500" b="1"/>
              <a:t>In-Flight State Races</a:t>
            </a:r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3703320"/>
            <a:ext cx="3017520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800"/>
              </a:spcAft>
              <a:buNone/>
              <a:defRPr sz="1050">
                <a:solidFill>
                  <a:srgbClr val="3E444A"/>
                </a:solidFill>
                <a:latin typeface="Calibri"/>
              </a:defRPr>
            </a:pPr>
            <a:r>
              <a:rPr sz="1200" b="1" dirty="0"/>
              <a:t>The Flaw:</a:t>
            </a:r>
          </a:p>
          <a:p>
            <a:r>
              <a:rPr sz="1200" b="0" dirty="0"/>
              <a:t>User corrects a value mid-sentence ("Actually, Chicago"). The stale in-flight search returns and speaks obsolete data over the user.</a:t>
            </a:r>
          </a:p>
        </p:txBody>
      </p:sp>
      <p:sp>
        <p:nvSpPr>
          <p:cNvPr id="114" name="Google Shape;114;p14"/>
          <p:cNvSpPr txBox="1"/>
          <p:nvPr/>
        </p:nvSpPr>
        <p:spPr>
          <a:xfrm>
            <a:off x="4599432" y="3108960"/>
            <a:ext cx="301752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8C3B2B"/>
                </a:solidFill>
                <a:latin typeface="Calibri"/>
              </a:defRPr>
            </a:pPr>
            <a:r>
              <a:t>FAILURE MODE 02</a:t>
            </a:r>
          </a:p>
        </p:txBody>
      </p:sp>
      <p:sp>
        <p:nvSpPr>
          <p:cNvPr id="115" name="Google Shape;115;p14"/>
          <p:cNvSpPr txBox="1"/>
          <p:nvPr/>
        </p:nvSpPr>
        <p:spPr>
          <a:xfrm>
            <a:off x="4599432" y="3337560"/>
            <a:ext cx="30175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F2326"/>
                </a:solidFill>
                <a:latin typeface="Calibri"/>
              </a:defRPr>
            </a:pPr>
            <a:r>
              <a:rPr sz="1500" b="1"/>
              <a:t>Phantom Completions</a:t>
            </a:r>
          </a:p>
        </p:txBody>
      </p:sp>
      <p:sp>
        <p:nvSpPr>
          <p:cNvPr id="116" name="Google Shape;116;p14"/>
          <p:cNvSpPr txBox="1"/>
          <p:nvPr/>
        </p:nvSpPr>
        <p:spPr>
          <a:xfrm>
            <a:off x="4599432" y="3703320"/>
            <a:ext cx="3017520" cy="84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800"/>
              </a:spcAft>
              <a:buNone/>
              <a:defRPr sz="1050">
                <a:solidFill>
                  <a:srgbClr val="3E444A"/>
                </a:solidFill>
                <a:latin typeface="Calibri"/>
              </a:defRPr>
            </a:pPr>
            <a:r>
              <a:rPr sz="1200" b="1" dirty="0"/>
              <a:t>The Flaw:</a:t>
            </a:r>
          </a:p>
          <a:p>
            <a:r>
              <a:rPr sz="1200" b="0" dirty="0"/>
              <a:t>Streaming TTS declares "Booked!" before backend APIs settle. If the network drops or API aborts, the user gets false confirmation.</a:t>
            </a:r>
          </a:p>
        </p:txBody>
      </p:sp>
      <p:sp>
        <p:nvSpPr>
          <p:cNvPr id="117" name="Google Shape;117;p14"/>
          <p:cNvSpPr txBox="1"/>
          <p:nvPr/>
        </p:nvSpPr>
        <p:spPr>
          <a:xfrm>
            <a:off x="8284464" y="3108960"/>
            <a:ext cx="301752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8C3B2B"/>
                </a:solidFill>
                <a:latin typeface="Calibri"/>
              </a:defRPr>
            </a:pPr>
            <a:r>
              <a:t>FAILURE MODE 03</a:t>
            </a:r>
          </a:p>
        </p:txBody>
      </p:sp>
      <p:sp>
        <p:nvSpPr>
          <p:cNvPr id="118" name="Google Shape;118;p14"/>
          <p:cNvSpPr txBox="1"/>
          <p:nvPr/>
        </p:nvSpPr>
        <p:spPr>
          <a:xfrm>
            <a:off x="8284464" y="3337560"/>
            <a:ext cx="30175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F2326"/>
                </a:solidFill>
                <a:latin typeface="Calibri"/>
              </a:defRPr>
            </a:pPr>
            <a:r>
              <a:rPr sz="1500" b="1"/>
              <a:t>Duplicate Side Effects</a:t>
            </a:r>
          </a:p>
        </p:txBody>
      </p:sp>
      <p:sp>
        <p:nvSpPr>
          <p:cNvPr id="119" name="Google Shape;119;p14"/>
          <p:cNvSpPr txBox="1"/>
          <p:nvPr/>
        </p:nvSpPr>
        <p:spPr>
          <a:xfrm>
            <a:off x="8284464" y="3703320"/>
            <a:ext cx="3017520" cy="84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800"/>
              </a:spcAft>
              <a:buNone/>
              <a:defRPr sz="1050">
                <a:solidFill>
                  <a:srgbClr val="3E444A"/>
                </a:solidFill>
                <a:latin typeface="Calibri"/>
              </a:defRPr>
            </a:pPr>
            <a:r>
              <a:rPr sz="1200" b="1" dirty="0"/>
              <a:t>The Flaw:</a:t>
            </a:r>
          </a:p>
          <a:p>
            <a:r>
              <a:rPr sz="1200" b="0" dirty="0"/>
              <a:t>Hesitation pauses or mid-sentence retries trigger models to re-execute tool calls, causing duplicate charges and bookings.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2B4C3F"/>
                </a:solidFill>
                <a:latin typeface="Calibri"/>
              </a:defRPr>
            </a:pPr>
            <a:r>
              <a:t>2. CORE ARCHITECTURE &amp; TECHNOLOGY MODULES</a:t>
            </a:r>
          </a:p>
        </p:txBody>
      </p:sp>
      <p:sp>
        <p:nvSpPr>
          <p:cNvPr id="159" name="Google Shape;159;p17"/>
          <p:cNvSpPr txBox="1"/>
          <p:nvPr/>
        </p:nvSpPr>
        <p:spPr>
          <a:xfrm>
            <a:off x="685800" y="76200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F2326"/>
                </a:solidFill>
                <a:latin typeface="Calibri"/>
              </a:defRPr>
            </a:pPr>
            <a:r>
              <a:rPr dirty="0"/>
              <a:t>Five-Stage System Architecture: The Single-Writer Principle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EC8ED5-B73F-C1EC-75B0-209A173A6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22" y="1376584"/>
            <a:ext cx="11420156" cy="45767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1B794077-232A-BC44-CB2D-9A852951A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>
            <a:extLst>
              <a:ext uri="{FF2B5EF4-FFF2-40B4-BE49-F238E27FC236}">
                <a16:creationId xmlns:a16="http://schemas.microsoft.com/office/drawing/2014/main" id="{DB54AF3F-426B-855A-7A63-0D3F05A1BEEF}"/>
              </a:ext>
            </a:extLst>
          </p:cNvPr>
          <p:cNvSpPr/>
          <p:nvPr/>
        </p:nvSpPr>
        <p:spPr>
          <a:xfrm>
            <a:off x="685800" y="1508760"/>
            <a:ext cx="2039112" cy="29260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6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CD33DA77-BE16-D0BD-89C8-4D526C70602C}"/>
              </a:ext>
            </a:extLst>
          </p:cNvPr>
          <p:cNvSpPr/>
          <p:nvPr/>
        </p:nvSpPr>
        <p:spPr>
          <a:xfrm>
            <a:off x="2880360" y="1508760"/>
            <a:ext cx="2039112" cy="2926080"/>
          </a:xfrm>
          <a:prstGeom prst="rect">
            <a:avLst/>
          </a:prstGeom>
          <a:solidFill>
            <a:srgbClr val="23272A"/>
          </a:solidFill>
          <a:ln w="9525" cap="flat" cmpd="sng">
            <a:solidFill>
              <a:srgbClr val="232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412052C7-E959-8CBF-C569-61FDF2A71DC3}"/>
              </a:ext>
            </a:extLst>
          </p:cNvPr>
          <p:cNvSpPr/>
          <p:nvPr/>
        </p:nvSpPr>
        <p:spPr>
          <a:xfrm>
            <a:off x="5074920" y="1508760"/>
            <a:ext cx="2039112" cy="29260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6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5BEE1AB3-398B-D683-3BF9-E709BB84E703}"/>
              </a:ext>
            </a:extLst>
          </p:cNvPr>
          <p:cNvSpPr/>
          <p:nvPr/>
        </p:nvSpPr>
        <p:spPr>
          <a:xfrm>
            <a:off x="9464040" y="1508760"/>
            <a:ext cx="2039112" cy="29260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6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>
            <a:extLst>
              <a:ext uri="{FF2B5EF4-FFF2-40B4-BE49-F238E27FC236}">
                <a16:creationId xmlns:a16="http://schemas.microsoft.com/office/drawing/2014/main" id="{484526E0-9AB7-4E43-99EC-D18B4DA4BD91}"/>
              </a:ext>
            </a:extLst>
          </p:cNvPr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2B4C3F"/>
                </a:solidFill>
                <a:latin typeface="Calibri"/>
              </a:defRPr>
            </a:pPr>
            <a:r>
              <a:t>2. CORE ARCHITECTURE &amp; TECHNOLOGY MODULES</a:t>
            </a:r>
          </a:p>
        </p:txBody>
      </p:sp>
      <p:sp>
        <p:nvSpPr>
          <p:cNvPr id="159" name="Google Shape;159;p17">
            <a:extLst>
              <a:ext uri="{FF2B5EF4-FFF2-40B4-BE49-F238E27FC236}">
                <a16:creationId xmlns:a16="http://schemas.microsoft.com/office/drawing/2014/main" id="{BE6ADC9A-9DD8-F52B-8A08-956DE676CACA}"/>
              </a:ext>
            </a:extLst>
          </p:cNvPr>
          <p:cNvSpPr txBox="1"/>
          <p:nvPr/>
        </p:nvSpPr>
        <p:spPr>
          <a:xfrm>
            <a:off x="685800" y="76200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F2326"/>
                </a:solidFill>
                <a:latin typeface="Calibri"/>
              </a:defRPr>
            </a:pPr>
            <a:r>
              <a:rPr dirty="0"/>
              <a:t>Five-Stage System Architecture: The Single-Writer Principle</a:t>
            </a:r>
          </a:p>
        </p:txBody>
      </p:sp>
      <p:sp>
        <p:nvSpPr>
          <p:cNvPr id="160" name="Google Shape;160;p17">
            <a:extLst>
              <a:ext uri="{FF2B5EF4-FFF2-40B4-BE49-F238E27FC236}">
                <a16:creationId xmlns:a16="http://schemas.microsoft.com/office/drawing/2014/main" id="{ADC9CA18-CE7D-7E0C-7651-F155F178DEAB}"/>
              </a:ext>
            </a:extLst>
          </p:cNvPr>
          <p:cNvSpPr txBox="1"/>
          <p:nvPr/>
        </p:nvSpPr>
        <p:spPr>
          <a:xfrm>
            <a:off x="960120" y="4800600"/>
            <a:ext cx="77724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300" b="1" dirty="0">
                <a:solidFill>
                  <a:schemeClr val="tx1"/>
                </a:solidFill>
              </a:rPr>
              <a:t>Core Invariant: Models propose. One deterministic synchronous kernel decides.</a:t>
            </a:r>
          </a:p>
        </p:txBody>
      </p:sp>
      <p:sp>
        <p:nvSpPr>
          <p:cNvPr id="161" name="Google Shape;161;p17">
            <a:extLst>
              <a:ext uri="{FF2B5EF4-FFF2-40B4-BE49-F238E27FC236}">
                <a16:creationId xmlns:a16="http://schemas.microsoft.com/office/drawing/2014/main" id="{724C2650-3005-C9CC-8A7E-7376FACB7F74}"/>
              </a:ext>
            </a:extLst>
          </p:cNvPr>
          <p:cNvSpPr txBox="1"/>
          <p:nvPr/>
        </p:nvSpPr>
        <p:spPr>
          <a:xfrm>
            <a:off x="8412480" y="4818888"/>
            <a:ext cx="283464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CFD3D7"/>
                </a:solidFill>
                <a:latin typeface="Calibri"/>
              </a:defRPr>
            </a:pPr>
            <a:r>
              <a:rPr sz="1100" b="0" dirty="0">
                <a:solidFill>
                  <a:schemeClr val="tx1"/>
                </a:solidFill>
              </a:rPr>
              <a:t>Clean Architectural Decoupling</a:t>
            </a:r>
          </a:p>
        </p:txBody>
      </p:sp>
      <p:sp>
        <p:nvSpPr>
          <p:cNvPr id="162" name="Google Shape;162;p17">
            <a:extLst>
              <a:ext uri="{FF2B5EF4-FFF2-40B4-BE49-F238E27FC236}">
                <a16:creationId xmlns:a16="http://schemas.microsoft.com/office/drawing/2014/main" id="{2BCE6AB1-1DB3-13EF-C1AA-8B98648F5E4E}"/>
              </a:ext>
            </a:extLst>
          </p:cNvPr>
          <p:cNvSpPr txBox="1"/>
          <p:nvPr/>
        </p:nvSpPr>
        <p:spPr>
          <a:xfrm>
            <a:off x="822960" y="1691640"/>
            <a:ext cx="176479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2B4C3F"/>
                </a:solidFill>
                <a:latin typeface="Calibri"/>
              </a:defRPr>
            </a:pPr>
            <a:r>
              <a:t>1. EARS</a:t>
            </a:r>
          </a:p>
        </p:txBody>
      </p:sp>
      <p:sp>
        <p:nvSpPr>
          <p:cNvPr id="163" name="Google Shape;163;p17">
            <a:extLst>
              <a:ext uri="{FF2B5EF4-FFF2-40B4-BE49-F238E27FC236}">
                <a16:creationId xmlns:a16="http://schemas.microsoft.com/office/drawing/2014/main" id="{5B254C0C-034E-56DA-0EAB-6C8A054C37CB}"/>
              </a:ext>
            </a:extLst>
          </p:cNvPr>
          <p:cNvSpPr txBox="1"/>
          <p:nvPr/>
        </p:nvSpPr>
        <p:spPr>
          <a:xfrm>
            <a:off x="822960" y="1920240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1F2326"/>
                </a:solidFill>
                <a:latin typeface="Calibri"/>
              </a:defRPr>
            </a:pPr>
            <a:r>
              <a:t>Perception &amp; Audio</a:t>
            </a:r>
          </a:p>
        </p:txBody>
      </p:sp>
      <p:sp>
        <p:nvSpPr>
          <p:cNvPr id="164" name="Google Shape;164;p17">
            <a:extLst>
              <a:ext uri="{FF2B5EF4-FFF2-40B4-BE49-F238E27FC236}">
                <a16:creationId xmlns:a16="http://schemas.microsoft.com/office/drawing/2014/main" id="{F6FA1270-DA9C-843B-EC6D-E6686786C5CD}"/>
              </a:ext>
            </a:extLst>
          </p:cNvPr>
          <p:cNvSpPr txBox="1"/>
          <p:nvPr/>
        </p:nvSpPr>
        <p:spPr>
          <a:xfrm>
            <a:off x="822960" y="2286000"/>
            <a:ext cx="1764792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3E444A"/>
                </a:solidFill>
                <a:latin typeface="Calibri"/>
              </a:defRPr>
            </a:pPr>
            <a:r>
              <a:rPr sz="1200" b="0"/>
              <a:t>• Silero VAD (1.5s floor)</a:t>
            </a:r>
          </a:p>
          <a:p>
            <a:r>
              <a:rPr sz="1200" b="0"/>
              <a:t>• Fast STT (OpenAI / Whisper)</a:t>
            </a:r>
          </a:p>
          <a:p>
            <a:r>
              <a:rPr sz="1200" b="0"/>
              <a:t>• 1 fps camera frame buffer</a:t>
            </a:r>
          </a:p>
          <a:p>
            <a:r>
              <a:rPr sz="1200" b="0"/>
              <a:t>• Streamed transcript events</a:t>
            </a:r>
          </a:p>
        </p:txBody>
      </p:sp>
      <p:sp>
        <p:nvSpPr>
          <p:cNvPr id="165" name="Google Shape;165;p17">
            <a:extLst>
              <a:ext uri="{FF2B5EF4-FFF2-40B4-BE49-F238E27FC236}">
                <a16:creationId xmlns:a16="http://schemas.microsoft.com/office/drawing/2014/main" id="{C93CCD1F-5F52-3DC6-2D44-EBD3B311FC40}"/>
              </a:ext>
            </a:extLst>
          </p:cNvPr>
          <p:cNvSpPr txBox="1"/>
          <p:nvPr/>
        </p:nvSpPr>
        <p:spPr>
          <a:xfrm>
            <a:off x="3017520" y="1691640"/>
            <a:ext cx="176479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2B4C3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2. KERNEL (&lt;= 0.4 </a:t>
            </a:r>
            <a:r>
              <a:rPr dirty="0" err="1">
                <a:solidFill>
                  <a:schemeClr val="bg1"/>
                </a:solidFill>
              </a:rPr>
              <a:t>ms</a:t>
            </a:r>
            <a:r>
              <a:rPr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66" name="Google Shape;166;p17">
            <a:extLst>
              <a:ext uri="{FF2B5EF4-FFF2-40B4-BE49-F238E27FC236}">
                <a16:creationId xmlns:a16="http://schemas.microsoft.com/office/drawing/2014/main" id="{A2655E03-E7D1-7145-5509-8B109260D5A3}"/>
              </a:ext>
            </a:extLst>
          </p:cNvPr>
          <p:cNvSpPr txBox="1"/>
          <p:nvPr/>
        </p:nvSpPr>
        <p:spPr>
          <a:xfrm>
            <a:off x="3017520" y="1920240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1F2326"/>
                </a:solidFill>
                <a:latin typeface="Calibri"/>
              </a:defRPr>
            </a:pPr>
            <a:r>
              <a:t>Single Writer</a:t>
            </a:r>
          </a:p>
        </p:txBody>
      </p:sp>
      <p:sp>
        <p:nvSpPr>
          <p:cNvPr id="167" name="Google Shape;167;p17">
            <a:extLst>
              <a:ext uri="{FF2B5EF4-FFF2-40B4-BE49-F238E27FC236}">
                <a16:creationId xmlns:a16="http://schemas.microsoft.com/office/drawing/2014/main" id="{A66004C3-4000-B492-0BB8-35F72F78CB30}"/>
              </a:ext>
            </a:extLst>
          </p:cNvPr>
          <p:cNvSpPr txBox="1"/>
          <p:nvPr/>
        </p:nvSpPr>
        <p:spPr>
          <a:xfrm>
            <a:off x="3017520" y="2286000"/>
            <a:ext cx="1764792" cy="115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3E444A"/>
                </a:solidFill>
                <a:latin typeface="Calibri"/>
              </a:defRPr>
            </a:pPr>
            <a:r>
              <a:rPr sz="1200" b="0" dirty="0">
                <a:solidFill>
                  <a:schemeClr val="bg1"/>
                </a:solidFill>
              </a:rPr>
              <a:t>• 8-phase synchronous step</a:t>
            </a:r>
          </a:p>
          <a:p>
            <a:r>
              <a:rPr sz="1200" b="0" dirty="0">
                <a:solidFill>
                  <a:schemeClr val="bg1"/>
                </a:solidFill>
              </a:rPr>
              <a:t>• 0 async awaits in hot loop</a:t>
            </a:r>
          </a:p>
          <a:p>
            <a:r>
              <a:rPr sz="1200" b="0" dirty="0">
                <a:solidFill>
                  <a:schemeClr val="bg1"/>
                </a:solidFill>
              </a:rPr>
              <a:t>• Versioned Fact Store</a:t>
            </a:r>
          </a:p>
          <a:p>
            <a:r>
              <a:rPr sz="1200" b="0" dirty="0">
                <a:solidFill>
                  <a:schemeClr val="bg1"/>
                </a:solidFill>
              </a:rPr>
              <a:t>• Single session state mutator</a:t>
            </a:r>
          </a:p>
        </p:txBody>
      </p:sp>
      <p:sp>
        <p:nvSpPr>
          <p:cNvPr id="168" name="Google Shape;168;p17">
            <a:extLst>
              <a:ext uri="{FF2B5EF4-FFF2-40B4-BE49-F238E27FC236}">
                <a16:creationId xmlns:a16="http://schemas.microsoft.com/office/drawing/2014/main" id="{E731677E-66F1-2633-A2BE-6F397A290B8A}"/>
              </a:ext>
            </a:extLst>
          </p:cNvPr>
          <p:cNvSpPr txBox="1"/>
          <p:nvPr/>
        </p:nvSpPr>
        <p:spPr>
          <a:xfrm>
            <a:off x="5212080" y="1691640"/>
            <a:ext cx="176479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2B4C3F"/>
                </a:solidFill>
                <a:latin typeface="Calibri"/>
              </a:defRPr>
            </a:pPr>
            <a:r>
              <a:t>3. ASYNC WORKERS</a:t>
            </a:r>
          </a:p>
        </p:txBody>
      </p:sp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05F9A6D6-05B7-88B4-8BAB-09E594B994DE}"/>
              </a:ext>
            </a:extLst>
          </p:cNvPr>
          <p:cNvSpPr txBox="1"/>
          <p:nvPr/>
        </p:nvSpPr>
        <p:spPr>
          <a:xfrm>
            <a:off x="5212080" y="1920240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1F2326"/>
                </a:solidFill>
                <a:latin typeface="Calibri"/>
              </a:defRPr>
            </a:pPr>
            <a:r>
              <a:t>Propose Only</a:t>
            </a:r>
          </a:p>
        </p:txBody>
      </p:sp>
      <p:sp>
        <p:nvSpPr>
          <p:cNvPr id="170" name="Google Shape;170;p17">
            <a:extLst>
              <a:ext uri="{FF2B5EF4-FFF2-40B4-BE49-F238E27FC236}">
                <a16:creationId xmlns:a16="http://schemas.microsoft.com/office/drawing/2014/main" id="{9C18DB57-1FDE-F47E-454A-9A35685D1E1B}"/>
              </a:ext>
            </a:extLst>
          </p:cNvPr>
          <p:cNvSpPr txBox="1"/>
          <p:nvPr/>
        </p:nvSpPr>
        <p:spPr>
          <a:xfrm>
            <a:off x="5212080" y="2286000"/>
            <a:ext cx="1764792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3E444A"/>
                </a:solidFill>
                <a:latin typeface="Calibri"/>
              </a:defRPr>
            </a:pPr>
            <a:r>
              <a:rPr sz="1200" b="0" dirty="0"/>
              <a:t>• Gemini Flash / GPT-4o</a:t>
            </a:r>
          </a:p>
          <a:p>
            <a:r>
              <a:rPr sz="1200" b="0" dirty="0"/>
              <a:t>• Interpreter, Binder, Vision</a:t>
            </a:r>
          </a:p>
          <a:p>
            <a:r>
              <a:rPr sz="1200" b="0" dirty="0"/>
              <a:t>• Return proposals + read sets</a:t>
            </a:r>
          </a:p>
          <a:p>
            <a:r>
              <a:rPr sz="1200" b="0" dirty="0"/>
              <a:t>• Never touch state directly</a:t>
            </a:r>
          </a:p>
        </p:txBody>
      </p:sp>
      <p:sp>
        <p:nvSpPr>
          <p:cNvPr id="174" name="Google Shape;174;p17">
            <a:extLst>
              <a:ext uri="{FF2B5EF4-FFF2-40B4-BE49-F238E27FC236}">
                <a16:creationId xmlns:a16="http://schemas.microsoft.com/office/drawing/2014/main" id="{B8A54E2C-E9C1-C26B-241D-4797526C40D9}"/>
              </a:ext>
            </a:extLst>
          </p:cNvPr>
          <p:cNvSpPr txBox="1"/>
          <p:nvPr/>
        </p:nvSpPr>
        <p:spPr>
          <a:xfrm>
            <a:off x="9601200" y="1691640"/>
            <a:ext cx="176479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2B4C3F"/>
                </a:solidFill>
                <a:latin typeface="Calibri"/>
              </a:defRPr>
            </a:pPr>
            <a:r>
              <a:t>5. MOUTH</a:t>
            </a:r>
          </a:p>
        </p:txBody>
      </p:sp>
      <p:sp>
        <p:nvSpPr>
          <p:cNvPr id="175" name="Google Shape;175;p17">
            <a:extLst>
              <a:ext uri="{FF2B5EF4-FFF2-40B4-BE49-F238E27FC236}">
                <a16:creationId xmlns:a16="http://schemas.microsoft.com/office/drawing/2014/main" id="{C353D554-EF16-AAFC-6B78-5DFE8684AC32}"/>
              </a:ext>
            </a:extLst>
          </p:cNvPr>
          <p:cNvSpPr txBox="1"/>
          <p:nvPr/>
        </p:nvSpPr>
        <p:spPr>
          <a:xfrm>
            <a:off x="9601200" y="1920240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1F2326"/>
                </a:solidFill>
                <a:latin typeface="Calibri"/>
              </a:defRPr>
            </a:pPr>
            <a:r>
              <a:t>Local Speech Out</a:t>
            </a:r>
          </a:p>
        </p:txBody>
      </p:sp>
      <p:sp>
        <p:nvSpPr>
          <p:cNvPr id="176" name="Google Shape;176;p17">
            <a:extLst>
              <a:ext uri="{FF2B5EF4-FFF2-40B4-BE49-F238E27FC236}">
                <a16:creationId xmlns:a16="http://schemas.microsoft.com/office/drawing/2014/main" id="{60FDA2C8-20FE-519D-7627-2FF6FE5B2B1B}"/>
              </a:ext>
            </a:extLst>
          </p:cNvPr>
          <p:cNvSpPr txBox="1"/>
          <p:nvPr/>
        </p:nvSpPr>
        <p:spPr>
          <a:xfrm>
            <a:off x="9601200" y="2286000"/>
            <a:ext cx="1764792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3E444A"/>
                </a:solidFill>
                <a:latin typeface="Calibri"/>
              </a:defRPr>
            </a:pPr>
            <a:r>
              <a:rPr sz="1200" b="0"/>
              <a:t>• Kokoro-82M TTS (&lt;300ms)</a:t>
            </a:r>
          </a:p>
          <a:p>
            <a:r>
              <a:rPr sz="1200" b="0"/>
              <a:t>• Speaks ONLY admitted facts</a:t>
            </a:r>
          </a:p>
          <a:p>
            <a:r>
              <a:rPr sz="1200" b="0"/>
              <a:t>• Instant barge-in preemption</a:t>
            </a:r>
          </a:p>
          <a:p>
            <a:r>
              <a:rPr sz="1200" b="0"/>
              <a:t>• Zero false completion claims</a:t>
            </a:r>
          </a:p>
        </p:txBody>
      </p:sp>
      <p:sp>
        <p:nvSpPr>
          <p:cNvPr id="4" name="Google Shape;154;p17">
            <a:extLst>
              <a:ext uri="{FF2B5EF4-FFF2-40B4-BE49-F238E27FC236}">
                <a16:creationId xmlns:a16="http://schemas.microsoft.com/office/drawing/2014/main" id="{4764A617-A287-1EA3-936E-C70F66A8A12D}"/>
              </a:ext>
            </a:extLst>
          </p:cNvPr>
          <p:cNvSpPr/>
          <p:nvPr/>
        </p:nvSpPr>
        <p:spPr>
          <a:xfrm>
            <a:off x="7254080" y="1508760"/>
            <a:ext cx="2039112" cy="2926080"/>
          </a:xfrm>
          <a:prstGeom prst="rect">
            <a:avLst/>
          </a:prstGeom>
          <a:solidFill>
            <a:srgbClr val="23272A"/>
          </a:solidFill>
          <a:ln w="9525" cap="flat" cmpd="sng">
            <a:solidFill>
              <a:srgbClr val="232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0DDE0-C16E-48F3-932C-63AC4C2629C8}"/>
              </a:ext>
            </a:extLst>
          </p:cNvPr>
          <p:cNvSpPr txBox="1"/>
          <p:nvPr/>
        </p:nvSpPr>
        <p:spPr>
          <a:xfrm>
            <a:off x="7356348" y="1640681"/>
            <a:ext cx="2244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1000" b="1">
                <a:solidFill>
                  <a:srgbClr val="2B4C3F"/>
                </a:solidFill>
                <a:latin typeface="Calibri"/>
              </a:defRPr>
            </a:pPr>
            <a:r>
              <a:rPr lang="en-IN" dirty="0">
                <a:solidFill>
                  <a:schemeClr val="bg1"/>
                </a:solidFill>
                <a:highlight>
                  <a:srgbClr val="000000"/>
                </a:highlight>
              </a:rPr>
              <a:t>4. SAFETY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5E079F-5571-D86E-AC82-DC6A8484DEF7}"/>
              </a:ext>
            </a:extLst>
          </p:cNvPr>
          <p:cNvSpPr txBox="1"/>
          <p:nvPr/>
        </p:nvSpPr>
        <p:spPr>
          <a:xfrm>
            <a:off x="7356348" y="1886902"/>
            <a:ext cx="210769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1300" b="1">
                <a:solidFill>
                  <a:srgbClr val="1F2326"/>
                </a:solidFill>
                <a:latin typeface="Calibri"/>
              </a:defRPr>
            </a:pPr>
            <a:r>
              <a:rPr lang="en-IN" dirty="0">
                <a:solidFill>
                  <a:schemeClr val="bg1"/>
                </a:solidFill>
                <a:highlight>
                  <a:srgbClr val="000000"/>
                </a:highlight>
              </a:rPr>
              <a:t>Admission &amp; Tools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F8EEE-CC5E-73AF-7584-959FB76BF7F8}"/>
              </a:ext>
            </a:extLst>
          </p:cNvPr>
          <p:cNvSpPr txBox="1"/>
          <p:nvPr/>
        </p:nvSpPr>
        <p:spPr>
          <a:xfrm>
            <a:off x="7356348" y="2252662"/>
            <a:ext cx="1682817" cy="1959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400"/>
              </a:spcAft>
              <a:defRPr sz="1000">
                <a:solidFill>
                  <a:srgbClr val="3E444A"/>
                </a:solidFill>
                <a:latin typeface="Calibri"/>
              </a:defRPr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CommitGate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G1–G12 checks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Pre-emission effect ledger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G5 idempotency deduplication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G12 spoken confirmation gate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492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21C54E-331C-B7D5-2D86-769F21EE2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58" y="1280160"/>
            <a:ext cx="10817352" cy="1307592"/>
          </a:xfrm>
          <a:prstGeom prst="rect">
            <a:avLst/>
          </a:prstGeom>
        </p:spPr>
      </p:pic>
      <p:sp>
        <p:nvSpPr>
          <p:cNvPr id="13" name="Google Shape;196;p19">
            <a:extLst>
              <a:ext uri="{FF2B5EF4-FFF2-40B4-BE49-F238E27FC236}">
                <a16:creationId xmlns:a16="http://schemas.microsoft.com/office/drawing/2014/main" id="{D22D762C-CB3D-13C4-7825-51D71E61CC69}"/>
              </a:ext>
            </a:extLst>
          </p:cNvPr>
          <p:cNvSpPr txBox="1"/>
          <p:nvPr/>
        </p:nvSpPr>
        <p:spPr>
          <a:xfrm>
            <a:off x="685800" y="533400"/>
            <a:ext cx="78105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2B4C3F"/>
                </a:solidFill>
                <a:latin typeface="Calibri"/>
              </a:defRPr>
            </a:pPr>
            <a:r>
              <a:t>2. CORE ARCHITECTURE &amp; STEP EXECUTION</a:t>
            </a:r>
          </a:p>
        </p:txBody>
      </p:sp>
      <p:sp>
        <p:nvSpPr>
          <p:cNvPr id="15" name="Google Shape;197;p19">
            <a:extLst>
              <a:ext uri="{FF2B5EF4-FFF2-40B4-BE49-F238E27FC236}">
                <a16:creationId xmlns:a16="http://schemas.microsoft.com/office/drawing/2014/main" id="{B7CDEEFF-3D79-378F-ABF3-36936B56CA12}"/>
              </a:ext>
            </a:extLst>
          </p:cNvPr>
          <p:cNvSpPr txBox="1"/>
          <p:nvPr/>
        </p:nvSpPr>
        <p:spPr>
          <a:xfrm>
            <a:off x="685800" y="762000"/>
            <a:ext cx="82010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F2326"/>
                </a:solidFill>
                <a:latin typeface="Calibri"/>
              </a:defRPr>
            </a:pPr>
            <a:r>
              <a:t>Anatomy of One Synchronous Kernel Step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858000" y="502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4C3F"/>
                </a:solidFill>
                <a:latin typeface="Calibri"/>
              </a:defRPr>
            </a:pPr>
            <a:r>
              <a:t>&lt; 0.4 ms measured execution | 0 async awaits in hot 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69748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2807208"/>
            <a:ext cx="234086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4C3F"/>
                </a:solidFill>
                <a:latin typeface="Calibri"/>
              </a:defRPr>
            </a:pPr>
            <a:r>
              <a:rPr sz="1300" b="1"/>
              <a:t>1. ORDER</a:t>
            </a:r>
          </a:p>
          <a:p>
            <a:r>
              <a:rPr sz="1150" b="0"/>
              <a:t>Sort batch deterministically by (timestamp, event_class, seq).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38144" y="269748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47872" y="2807208"/>
            <a:ext cx="234086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4C3F"/>
                </a:solidFill>
                <a:latin typeface="Calibri"/>
              </a:defRPr>
            </a:pPr>
            <a:r>
              <a:rPr sz="1300" b="1"/>
              <a:t>2. APPLY</a:t>
            </a:r>
          </a:p>
          <a:p>
            <a:r>
              <a:rPr sz="1150" b="0"/>
              <a:t>Reduce speech chunks, tool returns, worker proposals, and camera frames.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269748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0216" y="2807208"/>
            <a:ext cx="234086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4C3F"/>
                </a:solidFill>
                <a:latin typeface="Calibri"/>
              </a:defRPr>
            </a:pPr>
            <a:r>
              <a:rPr sz="1300" b="1"/>
              <a:t>3. INVALIDATE</a:t>
            </a:r>
          </a:p>
          <a:p>
            <a:r>
              <a:rPr sz="1150" b="0"/>
              <a:t>Walk dependency index; invalidate stale read sets in same 0.4ms step.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2832" y="269748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2807208"/>
            <a:ext cx="234086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4C3F"/>
                </a:solidFill>
                <a:latin typeface="Calibri"/>
              </a:defRPr>
            </a:pPr>
            <a:r>
              <a:rPr sz="1300" b="1"/>
              <a:t>4. DECIDE</a:t>
            </a:r>
          </a:p>
          <a:p>
            <a:r>
              <a:rPr sz="1150" b="0"/>
              <a:t>Run fixed-order sub-phases, update task FSM, check CommitGate G1–G12.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977639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4087367"/>
            <a:ext cx="234086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4C3F"/>
                </a:solidFill>
                <a:latin typeface="Calibri"/>
              </a:defRPr>
            </a:pPr>
            <a:r>
              <a:rPr sz="1300" b="1" dirty="0"/>
              <a:t>5. EMIT</a:t>
            </a:r>
          </a:p>
          <a:p>
            <a:r>
              <a:rPr sz="1150" b="0" dirty="0"/>
              <a:t>Re-verify G9; emit wire CANCEL actions before SPEAK or TOOL_CALL.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38144" y="3977639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47872" y="4087367"/>
            <a:ext cx="2340864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4C3F"/>
                </a:solidFill>
                <a:latin typeface="Calibri"/>
              </a:defRPr>
            </a:pPr>
            <a:r>
              <a:rPr sz="1300" b="1" dirty="0"/>
              <a:t>6. COMMIT</a:t>
            </a:r>
          </a:p>
          <a:p>
            <a:r>
              <a:rPr lang="en-US" sz="1150" b="0" dirty="0"/>
              <a:t>Automatically save the state changes</a:t>
            </a:r>
            <a:endParaRPr sz="1150" b="0" dirty="0"/>
          </a:p>
        </p:txBody>
      </p:sp>
      <p:sp>
        <p:nvSpPr>
          <p:cNvPr id="29" name="Rectangle 28"/>
          <p:cNvSpPr/>
          <p:nvPr/>
        </p:nvSpPr>
        <p:spPr>
          <a:xfrm>
            <a:off x="6190488" y="3977639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0216" y="4087367"/>
            <a:ext cx="234086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4C3F"/>
                </a:solidFill>
                <a:latin typeface="Calibri"/>
              </a:defRPr>
            </a:pPr>
            <a:r>
              <a:rPr sz="1300" b="1" dirty="0"/>
              <a:t>7. DISPATCH</a:t>
            </a:r>
          </a:p>
          <a:p>
            <a:r>
              <a:rPr sz="1150" b="0" dirty="0"/>
              <a:t>Start non-blocking async worker jobs requested by Decide.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42832" y="3977639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52560" y="4087367"/>
            <a:ext cx="234086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4C3F"/>
                </a:solidFill>
                <a:latin typeface="Calibri"/>
              </a:defRPr>
            </a:pPr>
            <a:r>
              <a:rPr sz="1300" b="1" dirty="0"/>
              <a:t>8. LOG</a:t>
            </a:r>
          </a:p>
          <a:p>
            <a:r>
              <a:rPr lang="en-US" sz="1150" b="0" dirty="0"/>
              <a:t>Append immutable execution trace for live X-ray and offline replay.</a:t>
            </a:r>
            <a:endParaRPr sz="1150" b="0" dirty="0"/>
          </a:p>
        </p:txBody>
      </p:sp>
      <p:sp>
        <p:nvSpPr>
          <p:cNvPr id="33" name="TextBox 32"/>
          <p:cNvSpPr txBox="1"/>
          <p:nvPr/>
        </p:nvSpPr>
        <p:spPr>
          <a:xfrm>
            <a:off x="768096" y="547624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E444A"/>
                </a:solidFill>
                <a:latin typeface="Calibri"/>
              </a:defRPr>
            </a:pPr>
            <a:r>
              <a:rPr sz="1150" b="1"/>
              <a:t>Decide Resolution Order: Cancellations ➔ Deadlines ➔ Late Binding ➔ Task FSM ➔ Perception ➔ CommitGate ➔ FastResponder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/>
          <p:nvPr/>
        </p:nvSpPr>
        <p:spPr>
          <a:xfrm>
            <a:off x="685800" y="1417320"/>
            <a:ext cx="10817352" cy="868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6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685800" y="2468880"/>
            <a:ext cx="10817352" cy="9969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6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685800" y="533400"/>
            <a:ext cx="11506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2B4C3F"/>
                </a:solidFill>
                <a:latin typeface="Calibri"/>
              </a:defRPr>
            </a:pPr>
            <a:r>
              <a:t>2. CORE ARCHITECTURE &amp; CONCURRENCY</a:t>
            </a:r>
          </a:p>
        </p:txBody>
      </p:sp>
      <p:sp>
        <p:nvSpPr>
          <p:cNvPr id="224" name="Google Shape;224;p20"/>
          <p:cNvSpPr txBox="1"/>
          <p:nvPr/>
        </p:nvSpPr>
        <p:spPr>
          <a:xfrm>
            <a:off x="685800" y="762000"/>
            <a:ext cx="11506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F2326"/>
                </a:solidFill>
                <a:latin typeface="Calibri"/>
              </a:defRPr>
            </a:pPr>
            <a:r>
              <a:rPr lang="en-US" dirty="0"/>
              <a:t>Deterministic How?</a:t>
            </a:r>
            <a:endParaRPr dirty="0"/>
          </a:p>
        </p:txBody>
      </p:sp>
      <p:sp>
        <p:nvSpPr>
          <p:cNvPr id="225" name="Google Shape;225;p20"/>
          <p:cNvSpPr txBox="1"/>
          <p:nvPr/>
        </p:nvSpPr>
        <p:spPr>
          <a:xfrm>
            <a:off x="960120" y="1536192"/>
            <a:ext cx="6858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F2326"/>
                </a:solidFill>
                <a:latin typeface="Calibri"/>
              </a:defRPr>
            </a:pPr>
            <a:r>
              <a:rPr sz="1300" b="0"/>
              <a:t>Dependency Tracking: Every proposal, tool call, and speech action records its read set:</a:t>
            </a:r>
          </a:p>
        </p:txBody>
      </p:sp>
      <p:sp>
        <p:nvSpPr>
          <p:cNvPr id="226" name="Google Shape;226;p20"/>
          <p:cNvSpPr txBox="1"/>
          <p:nvPr/>
        </p:nvSpPr>
        <p:spPr>
          <a:xfrm>
            <a:off x="960120" y="178308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2B4C3F"/>
                </a:solidFill>
                <a:latin typeface="Consolas"/>
              </a:defRPr>
            </a:pPr>
            <a:r>
              <a:rPr sz="1250" b="1"/>
              <a:t>Tuple: (fact_key, fact_version, sha256_digest)  —  Validated before any wire action emits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2A931C-6479-F0A6-9339-DAC7E76BB9F0}"/>
              </a:ext>
            </a:extLst>
          </p:cNvPr>
          <p:cNvSpPr txBox="1"/>
          <p:nvPr/>
        </p:nvSpPr>
        <p:spPr>
          <a:xfrm>
            <a:off x="834189" y="2468880"/>
            <a:ext cx="10347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calls to find current time are completely forbidden.</a:t>
            </a:r>
          </a:p>
          <a:p>
            <a:pPr marL="285750" indent="-285750"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event is sorted by a strict composite key</a:t>
            </a:r>
          </a:p>
          <a:p>
            <a:pPr marL="285750" indent="-285750"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hash SHA-256 hashing instead of Python’s hashing, so replays do not occur.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>
          <a:extLst>
            <a:ext uri="{FF2B5EF4-FFF2-40B4-BE49-F238E27FC236}">
              <a16:creationId xmlns:a16="http://schemas.microsoft.com/office/drawing/2014/main" id="{0393AECE-7223-C4A9-4849-638391E32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28CCC3-CD71-ACCD-C977-3F6DACCDF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58" y="1045623"/>
            <a:ext cx="7459579" cy="5419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BF7953-9D37-8FCB-CCFA-1BD78609F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1234440"/>
            <a:ext cx="1417320" cy="4846320"/>
          </a:xfrm>
          <a:prstGeom prst="rect">
            <a:avLst/>
          </a:prstGeom>
        </p:spPr>
      </p:pic>
      <p:sp>
        <p:nvSpPr>
          <p:cNvPr id="4" name="Google Shape;249;p22">
            <a:extLst>
              <a:ext uri="{FF2B5EF4-FFF2-40B4-BE49-F238E27FC236}">
                <a16:creationId xmlns:a16="http://schemas.microsoft.com/office/drawing/2014/main" id="{9E4A9C9C-EC25-2FBE-AA62-A4623BDD3E01}"/>
              </a:ext>
            </a:extLst>
          </p:cNvPr>
          <p:cNvSpPr txBox="1"/>
          <p:nvPr/>
        </p:nvSpPr>
        <p:spPr>
          <a:xfrm>
            <a:off x="685800" y="365760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None/>
              <a:defRPr sz="1100" b="1">
                <a:solidFill>
                  <a:srgbClr val="2B4C3F"/>
                </a:solidFill>
                <a:latin typeface="Calibri"/>
              </a:defRPr>
            </a:pPr>
            <a:r>
              <a:rPr dirty="0"/>
              <a:t>2. CORE ARCHITECTURE &amp; ADMISSION SAFETY</a:t>
            </a:r>
          </a:p>
          <a:p>
            <a:pPr>
              <a:defRPr sz="2400" b="1">
                <a:solidFill>
                  <a:srgbClr val="1F2326"/>
                </a:solidFill>
                <a:latin typeface="Calibri"/>
              </a:defRPr>
            </a:pPr>
            <a:r>
              <a:rPr dirty="0" err="1"/>
              <a:t>CommitGate</a:t>
            </a:r>
            <a:r>
              <a:rPr dirty="0"/>
              <a:t> (G1-G12) &amp; Pre-Emission Effect Ledger</a:t>
            </a:r>
          </a:p>
        </p:txBody>
      </p:sp>
    </p:spTree>
    <p:extLst>
      <p:ext uri="{BB962C8B-B14F-4D97-AF65-F5344CB8AC3E}">
        <p14:creationId xmlns:p14="http://schemas.microsoft.com/office/powerpoint/2010/main" val="883138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/>
          <p:nvPr/>
        </p:nvSpPr>
        <p:spPr>
          <a:xfrm>
            <a:off x="685800" y="5005387"/>
            <a:ext cx="10820400" cy="533400"/>
          </a:xfrm>
          <a:prstGeom prst="rect">
            <a:avLst/>
          </a:prstGeom>
          <a:solidFill>
            <a:srgbClr val="E8ECE9"/>
          </a:solidFill>
          <a:ln w="9525" cap="flat" cmpd="sng">
            <a:solidFill>
              <a:srgbClr val="B8C4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685800" y="2176462"/>
            <a:ext cx="10820400" cy="2676525"/>
          </a:xfrm>
          <a:prstGeom prst="roundRect">
            <a:avLst>
              <a:gd name="adj" fmla="val 0"/>
            </a:avLst>
          </a:prstGeom>
          <a:solidFill>
            <a:srgbClr val="F4F3E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7" name="Google Shape;247;p22"/>
          <p:cNvGraphicFramePr/>
          <p:nvPr/>
        </p:nvGraphicFramePr>
        <p:xfrm>
          <a:off x="685800" y="2176462"/>
          <a:ext cx="10810875" cy="2692655"/>
        </p:xfrm>
        <a:graphic>
          <a:graphicData uri="http://schemas.openxmlformats.org/drawingml/2006/table">
            <a:tbl>
              <a:tblPr>
                <a:noFill/>
                <a:tableStyleId>{924E27F3-D382-4A39-9302-3D5F9263E9DF}</a:tableStyleId>
              </a:tblPr>
              <a:tblGrid>
                <a:gridCol w="151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 b="1">
                          <a:solidFill>
                            <a:srgbClr val="1F2326"/>
                          </a:solidFill>
                          <a:latin typeface="Calibri"/>
                        </a:defRPr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 b="1">
                          <a:solidFill>
                            <a:srgbClr val="1F2326"/>
                          </a:solidFill>
                          <a:latin typeface="Calibri"/>
                        </a:defRPr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Admission Rule Enforced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 b="1">
                          <a:solidFill>
                            <a:srgbClr val="1F2326"/>
                          </a:solidFill>
                          <a:latin typeface="Calibri"/>
                        </a:defRPr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on Failure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1" i="0" u="none" strike="noStrike" cap="none">
                          <a:solidFill>
                            <a:srgbClr val="2B4C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G1 – G2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0" i="0" u="none" strike="noStrike" cap="none">
                          <a:solidFill>
                            <a:srgbClr val="1F23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 exists/usable (G1) and read set is still valid (G2)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0" i="0" u="none" strike="noStrike" cap="none">
                          <a:solidFill>
                            <a:srgbClr val="3E44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 goal honestly or cancel stale 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1" i="0" u="none" strike="noStrike" cap="none">
                          <a:solidFill>
                            <a:srgbClr val="2B4C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G3 – G4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0" i="0" u="none" strike="noStrike" cap="none">
                          <a:solidFill>
                            <a:srgbClr val="1F23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Floor closed/user quiet (G3) &amp; explicit user go-ahead (G4)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0" i="0" u="none" strike="noStrike" cap="none">
                          <a:solidFill>
                            <a:srgbClr val="3E44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Hold call or ask "Shall I go ahead...?"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1" i="0" u="none" strike="noStrike" cap="none">
                          <a:solidFill>
                            <a:srgbClr val="8C3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G5 – G6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0" i="0" u="none" strike="noStrike" cap="none">
                          <a:solidFill>
                            <a:srgbClr val="1F23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duplicate fingerprint (G5) or plan-step lineage effect (G6)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0" i="0" u="none" strike="noStrike" cap="none">
                          <a:solidFill>
                            <a:srgbClr val="3E44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 write; report what already ran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1" i="0" u="none" strike="noStrike" cap="none">
                          <a:solidFill>
                            <a:srgbClr val="2B4C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G7 – G8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0" i="0" u="none" strike="noStrike" cap="none" dirty="0">
                          <a:solidFill>
                            <a:srgbClr val="1F23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unknown-outcome write (G7) &amp; valid schema </a:t>
                      </a:r>
                      <a:r>
                        <a:rPr lang="en-US" sz="1350" b="0" i="0" u="none" strike="noStrike" cap="none" dirty="0" err="1">
                          <a:solidFill>
                            <a:srgbClr val="1F23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args</a:t>
                      </a:r>
                      <a:r>
                        <a:rPr lang="en-US" sz="1350" b="0" i="0" u="none" strike="noStrike" cap="none" dirty="0">
                          <a:solidFill>
                            <a:srgbClr val="1F23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(G8)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0" i="0" u="none" strike="noStrike" cap="none">
                          <a:solidFill>
                            <a:srgbClr val="3E44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Ask user before retry; refuse blank args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1" i="0" u="none" strike="noStrike" cap="none">
                          <a:solidFill>
                            <a:srgbClr val="8C3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G9 – G12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0" i="0" u="none" strike="noStrike" cap="none" dirty="0">
                          <a:solidFill>
                            <a:srgbClr val="1F23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 at emission (G9), settle window (G10), no open turn (G11), explicit user confirmation for security actions (G12)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0">
                          <a:solidFill>
                            <a:srgbClr val="3E444A"/>
                          </a:solidFill>
                          <a:latin typeface="Calibri"/>
                        </a:defRPr>
                      </a:pPr>
                      <a:r>
                        <a:rPr lang="en-US" sz="1350" b="0" i="0" u="none" strike="noStrike" cap="none" dirty="0">
                          <a:solidFill>
                            <a:srgbClr val="3E44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Withdraw before wire or hold for correction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8" name="Google Shape;248;p22"/>
          <p:cNvSpPr txBox="1"/>
          <p:nvPr/>
        </p:nvSpPr>
        <p:spPr>
          <a:xfrm>
            <a:off x="685800" y="533400"/>
            <a:ext cx="11506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2B4C3F"/>
                </a:solidFill>
                <a:latin typeface="Calibri"/>
              </a:defRPr>
            </a:pPr>
            <a:r>
              <a:t>2. CORE ARCHITECTURE &amp; ADMISSION RULES</a:t>
            </a:r>
            <a:endParaRPr dirty="0"/>
          </a:p>
        </p:txBody>
      </p:sp>
      <p:sp>
        <p:nvSpPr>
          <p:cNvPr id="249" name="Google Shape;249;p22"/>
          <p:cNvSpPr txBox="1"/>
          <p:nvPr/>
        </p:nvSpPr>
        <p:spPr>
          <a:xfrm>
            <a:off x="685800" y="762000"/>
            <a:ext cx="115062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F2326"/>
                </a:solidFill>
                <a:latin typeface="Calibri"/>
              </a:defRPr>
            </a:pPr>
            <a:r>
              <a:t>CommitGate (G1-G12) Rule Enforcement Matrix</a:t>
            </a:r>
            <a:endParaRPr dirty="0"/>
          </a:p>
        </p:txBody>
      </p:sp>
      <p:sp>
        <p:nvSpPr>
          <p:cNvPr id="250" name="Google Shape;250;p22"/>
          <p:cNvSpPr txBox="1"/>
          <p:nvPr/>
        </p:nvSpPr>
        <p:spPr>
          <a:xfrm>
            <a:off x="923925" y="5167312"/>
            <a:ext cx="11268075" cy="17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5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</a:rPr>
              <a:t>Append-Only Effect Ledger: Admitted writes are recorded before wire emission; failed writes are never blindly retried.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/>
          <p:nvPr/>
        </p:nvSpPr>
        <p:spPr>
          <a:xfrm>
            <a:off x="685800" y="365760"/>
            <a:ext cx="11506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2B4C3F"/>
                </a:solidFill>
                <a:latin typeface="Calibri"/>
              </a:defRPr>
            </a:pPr>
            <a:r>
              <a:t>2. CORE ARCHITECTURE - VERIFICATION &amp; FDB-V3 BENCHMARKS</a:t>
            </a:r>
          </a:p>
        </p:txBody>
      </p:sp>
      <p:sp>
        <p:nvSpPr>
          <p:cNvPr id="284" name="Google Shape;284;p24"/>
          <p:cNvSpPr txBox="1"/>
          <p:nvPr/>
        </p:nvSpPr>
        <p:spPr>
          <a:xfrm>
            <a:off x="685800" y="594360"/>
            <a:ext cx="11506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F2326"/>
                </a:solidFill>
                <a:latin typeface="Calibri"/>
              </a:defRPr>
            </a:pPr>
            <a:r>
              <a:t>Full-Duplex-Bench v3 Results (100 Recordings, Official Judge)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EC1E95-A489-AC66-2929-29B3B9EE3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105" y="1088460"/>
            <a:ext cx="8301789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6468E-6BEF-60E2-9D4A-A17A62D92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073B5C-2053-0FF2-E4C9-DE11776D10C4}"/>
              </a:ext>
            </a:extLst>
          </p:cNvPr>
          <p:cNvSpPr txBox="1"/>
          <p:nvPr/>
        </p:nvSpPr>
        <p:spPr>
          <a:xfrm>
            <a:off x="685800" y="365760"/>
            <a:ext cx="10817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4C3F"/>
                </a:solidFill>
                <a:latin typeface="Calibri"/>
              </a:defRPr>
            </a:pPr>
            <a:r>
              <a:rPr lang="en-US" sz="2000" b="1" dirty="0"/>
              <a:t>4</a:t>
            </a:r>
            <a:r>
              <a:rPr sz="2000" b="1" dirty="0"/>
              <a:t>. </a:t>
            </a:r>
            <a:r>
              <a:rPr lang="en-US" sz="2000" dirty="0"/>
              <a:t>SCALABILITY: COVERING NEW USE CASE SCENARIOS</a:t>
            </a:r>
            <a:endParaRPr sz="2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7F08F4-C894-6FC2-ED87-C64F411F71F9}"/>
              </a:ext>
            </a:extLst>
          </p:cNvPr>
          <p:cNvSpPr/>
          <p:nvPr/>
        </p:nvSpPr>
        <p:spPr>
          <a:xfrm>
            <a:off x="422068" y="1133281"/>
            <a:ext cx="11081084" cy="5159364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4051E-CCD8-3694-1B08-A4557B357DA5}"/>
              </a:ext>
            </a:extLst>
          </p:cNvPr>
          <p:cNvSpPr txBox="1"/>
          <p:nvPr/>
        </p:nvSpPr>
        <p:spPr>
          <a:xfrm>
            <a:off x="505968" y="1238890"/>
            <a:ext cx="1099718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 b="1">
                <a:solidFill>
                  <a:srgbClr val="2B4C3F"/>
                </a:solidFill>
                <a:latin typeface="Calibri"/>
              </a:defRPr>
            </a:pPr>
            <a:r>
              <a:rPr lang="en-IN" sz="2000" b="1" dirty="0">
                <a:solidFill>
                  <a:srgbClr val="2B4C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Zero-Code Kernel Domain Expansion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new Samsung domains (Smart TVs, Galaxy Watch, Samsung Health, B2B Care) requires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 modifications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core kernel.</a:t>
            </a:r>
          </a:p>
          <a:p>
            <a:pPr lvl="0" algn="just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voice call runs as an independent, fully isolated session with its own Kernel and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FactStore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instance.</a:t>
            </a:r>
          </a:p>
          <a:p>
            <a:pPr lvl="0" algn="just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single standard 32-core cloud node can coordinate over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5,000 concurrent active calls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without CPU thread starvation.</a:t>
            </a:r>
          </a:p>
          <a:p>
            <a:pPr lvl="0" algn="just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Ready for hybrid deployment: run VAD, wake-word, and safety gating directly on Galaxy NPU hardware while offloading complex reasoning to cloud backends.</a:t>
            </a:r>
          </a:p>
          <a:p>
            <a:pPr lvl="0" algn="just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795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200"/>
              </a:spcAft>
              <a:buNone/>
              <a:defRPr sz="1100" b="1">
                <a:solidFill>
                  <a:srgbClr val="2B4C3F"/>
                </a:solidFill>
                <a:latin typeface="Calibri"/>
              </a:defRPr>
            </a:pPr>
            <a:r>
              <a:rPr sz="2000" b="1"/>
              <a:t>3. Samsung Extension  —  Multimodal Device Care</a:t>
            </a:r>
          </a:p>
          <a:p>
            <a:r>
              <a:rPr sz="1300" b="0"/>
              <a:t>See the washer error. Hear the user's correction. Book one appointment. Never two.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284747" y="1245670"/>
            <a:ext cx="5029200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F2326"/>
                </a:solidFill>
                <a:latin typeface="Calibri"/>
              </a:defRPr>
            </a:pPr>
            <a:r>
              <a:rPr sz="1600" b="1" dirty="0"/>
              <a:t>What we built</a:t>
            </a:r>
          </a:p>
          <a:p>
            <a:r>
              <a:rPr sz="1300" b="0" dirty="0"/>
              <a:t>A camera-grounded Samsung appliance care agent that can see a washer error code, diagnose it, and schedule a technician — all by voice, all live.</a:t>
            </a:r>
          </a:p>
          <a:p>
            <a:endParaRPr sz="1300" b="0" dirty="0"/>
          </a:p>
          <a:p>
            <a:r>
              <a:rPr sz="1400" b="1" dirty="0"/>
              <a:t>Camera reads the washer display</a:t>
            </a:r>
          </a:p>
          <a:p>
            <a:endParaRPr sz="1300" b="0" dirty="0"/>
          </a:p>
          <a:p>
            <a:r>
              <a:rPr sz="1400" b="1" dirty="0"/>
              <a:t>Mid-speech corrections are safe</a:t>
            </a:r>
          </a:p>
          <a:p>
            <a:endParaRPr sz="1300" b="0" dirty="0"/>
          </a:p>
          <a:p>
            <a:r>
              <a:rPr sz="1400" b="1" dirty="0"/>
              <a:t>Dangerous commands need a spoken yes</a:t>
            </a:r>
          </a:p>
          <a:p>
            <a:endParaRPr sz="1300" b="0" dirty="0"/>
          </a:p>
          <a:p>
            <a:r>
              <a:rPr sz="1400" b="1" dirty="0"/>
              <a:t>What you say beats what the camera sees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9AD4E6-F898-3E92-27DE-2DBAFE8CD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686" y="401052"/>
            <a:ext cx="2555507" cy="56789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4C3F"/>
                </a:solidFill>
                <a:latin typeface="Calibri"/>
              </a:defRPr>
            </a:pPr>
            <a:r>
              <a:rPr sz="2000" b="1" dirty="0"/>
              <a:t>3. Samsung Extension  —  SmartThings Cloud Control</a:t>
            </a:r>
          </a:p>
          <a:p>
            <a:r>
              <a:rPr sz="1300" b="0" dirty="0"/>
              <a:t>Real devices. Real confirmation. Honest failures.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422068" y="1133281"/>
            <a:ext cx="5673932" cy="2021399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5968" y="1238890"/>
            <a:ext cx="558698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 b="1">
                <a:solidFill>
                  <a:srgbClr val="2B4C3F"/>
                </a:solidFill>
                <a:latin typeface="Calibri"/>
              </a:defRPr>
            </a:pPr>
            <a:r>
              <a:rPr sz="1500" b="1" dirty="0"/>
              <a:t>Live SmartThings Cloud</a:t>
            </a:r>
          </a:p>
          <a:p>
            <a:pPr lvl="0" algn="just"/>
            <a:r>
              <a:rPr lang="en-IN" sz="1100" dirty="0"/>
              <a:t>Built directly against official Samsung SmartThings Developer REST APIs with zero mocks or synthetic shims.</a:t>
            </a:r>
          </a:p>
          <a:p>
            <a:pPr lvl="0" algn="just"/>
            <a:endParaRPr lang="en-IN" sz="1100" dirty="0"/>
          </a:p>
          <a:p>
            <a:pPr lvl="0" algn="just"/>
            <a:r>
              <a:rPr lang="en-IN" sz="1100" dirty="0"/>
              <a:t>Unifies real multi-category Samsung devices, including smart locks, garage doors, thermostats, wall switches, and washers.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151900"/>
            <a:ext cx="5673932" cy="2021398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28232" y="1133281"/>
            <a:ext cx="5338652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 b="1">
                <a:solidFill>
                  <a:srgbClr val="2B4C3F"/>
                </a:solidFill>
                <a:latin typeface="Calibri"/>
              </a:defRPr>
            </a:pPr>
            <a:r>
              <a:rPr sz="1500" b="1" dirty="0"/>
              <a:t>"Sent" is not "Done"</a:t>
            </a:r>
          </a:p>
          <a:p>
            <a:pPr lvl="0" algn="just"/>
            <a:r>
              <a:rPr lang="en-IN" sz="1200" dirty="0"/>
              <a:t>Standard smart home clouds return success the moment a command is received, even if a lock has dead batteries or a jammed bolt.</a:t>
            </a:r>
          </a:p>
          <a:p>
            <a:pPr lvl="0" algn="just"/>
            <a:endParaRPr lang="en-IN" sz="1200" dirty="0"/>
          </a:p>
          <a:p>
            <a:pPr lvl="0" algn="just"/>
            <a:r>
              <a:rPr lang="en-IN" sz="1200" dirty="0"/>
              <a:t>Janus enforces a mandatory physical state read-back after every write to verify that the hardware actually moved.</a:t>
            </a:r>
          </a:p>
          <a:p>
            <a:pPr lvl="0" algn="just"/>
            <a:endParaRPr lang="en-IN" sz="1200" dirty="0"/>
          </a:p>
          <a:p>
            <a:pPr lvl="0" algn="just"/>
            <a:r>
              <a:rPr lang="en-IN" sz="1200" dirty="0"/>
              <a:t>If the physical device does not confirm movement, Janus honestly reports that the command was sent but unverified.</a:t>
            </a:r>
          </a:p>
          <a:p>
            <a:pPr lvl="0" algn="just"/>
            <a:endParaRPr lang="en-IN" sz="1200" dirty="0"/>
          </a:p>
        </p:txBody>
      </p:sp>
      <p:sp>
        <p:nvSpPr>
          <p:cNvPr id="7" name="Rectangle 6"/>
          <p:cNvSpPr/>
          <p:nvPr/>
        </p:nvSpPr>
        <p:spPr>
          <a:xfrm>
            <a:off x="422068" y="3703319"/>
            <a:ext cx="5673932" cy="2136006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5968" y="3755840"/>
            <a:ext cx="5586984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 b="1">
                <a:solidFill>
                  <a:srgbClr val="2B4C3F"/>
                </a:solidFill>
                <a:latin typeface="Calibri"/>
              </a:defRPr>
            </a:pPr>
            <a:r>
              <a:rPr lang="en-IN" sz="1500" b="1" dirty="0">
                <a:solidFill>
                  <a:srgbClr val="2B4C3F"/>
                </a:solidFill>
                <a:latin typeface="Calibri"/>
              </a:rPr>
              <a:t>Proactive, Self-Withdrawing &amp; Zero Duplicates</a:t>
            </a:r>
            <a:endParaRPr sz="1500" b="1" dirty="0"/>
          </a:p>
          <a:p>
            <a:pPr lvl="0" algn="just"/>
            <a:r>
              <a:rPr lang="en-IN" sz="1200" dirty="0"/>
              <a:t>Janus monitors background device telemetry to proactively offer assistance, such as asking to close an open garage or lock an unlocked door.</a:t>
            </a:r>
          </a:p>
          <a:p>
            <a:pPr lvl="0" algn="just"/>
            <a:endParaRPr lang="en-IN" sz="1200" dirty="0"/>
          </a:p>
          <a:p>
            <a:pPr lvl="0" algn="just"/>
            <a:r>
              <a:rPr lang="en-IN" sz="1200" dirty="0"/>
              <a:t>High-risk security operations like unlocking doors strictly require an explicit spoken "Yes" to an exact confirmation prompt.</a:t>
            </a:r>
          </a:p>
          <a:p>
            <a:pPr lvl="0" algn="just"/>
            <a:endParaRPr lang="en-IN" sz="1200" dirty="0"/>
          </a:p>
          <a:p>
            <a:pPr lvl="0" algn="just"/>
            <a:r>
              <a:rPr lang="en-IN" sz="1200" dirty="0"/>
              <a:t>Semantic fingerprinting and plan lineage tracking mathematically guarantee that no command is ever sent twice over the radio network.</a:t>
            </a:r>
            <a:endParaRPr lang="en-IN" sz="1200" dirty="0"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45351" y="3703320"/>
            <a:ext cx="5673931" cy="2136006"/>
          </a:xfrm>
          <a:prstGeom prst="rect">
            <a:avLst/>
          </a:prstGeom>
          <a:solidFill>
            <a:srgbClr val="FFFFFF"/>
          </a:solidFill>
          <a:ln>
            <a:solidFill>
              <a:srgbClr val="D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1974" y="3840480"/>
            <a:ext cx="55873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 b="1">
                <a:solidFill>
                  <a:srgbClr val="2B4C3F"/>
                </a:solidFill>
                <a:latin typeface="Calibri"/>
              </a:defRPr>
            </a:pPr>
            <a:r>
              <a:rPr lang="en-IN" sz="1600" b="1" dirty="0">
                <a:solidFill>
                  <a:srgbClr val="2B4C3F"/>
                </a:solidFill>
                <a:latin typeface="Calibri"/>
              </a:rPr>
              <a:t>Android Companion App &amp; Live Fault Drawer</a:t>
            </a:r>
          </a:p>
          <a:p>
            <a:pPr lvl="0" algn="just"/>
            <a:r>
              <a:rPr lang="en-IN" sz="1200" dirty="0"/>
              <a:t>The companion app acts as a real-time visual X-ray, displaying verified device states alongside live action cards.</a:t>
            </a:r>
          </a:p>
          <a:p>
            <a:pPr lvl="0" algn="just"/>
            <a:endParaRPr lang="en-IN" sz="1200" dirty="0"/>
          </a:p>
          <a:p>
            <a:pPr lvl="0" algn="just"/>
            <a:r>
              <a:rPr lang="en-IN" sz="1200" dirty="0"/>
              <a:t>An interactive failure drawer lets the jury inject real-world IoT chaos live, including hub drops, dropped confirmations, and concurrent commands.</a:t>
            </a:r>
          </a:p>
          <a:p>
            <a:pPr lvl="0" algn="just"/>
            <a:endParaRPr lang="en-IN" sz="1200" dirty="0"/>
          </a:p>
          <a:p>
            <a:pPr lvl="0" algn="just"/>
            <a:r>
              <a:rPr lang="en-IN" sz="1200" dirty="0"/>
              <a:t>It directly mirrors the kernel's append-only Effect Ledger to give evaluators visual proof of zero duplicate actions.</a:t>
            </a:r>
            <a:endParaRPr lang="en-IN" sz="1200" dirty="0">
              <a:effectLst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4C3F"/>
                </a:solidFill>
                <a:latin typeface="Calibri"/>
              </a:defRPr>
            </a:pPr>
            <a:r>
              <a:t>5. LIVE SYSTEM DEMO &amp; VERIFICATION (&lt; 2 MINS)</a:t>
            </a:r>
          </a:p>
          <a:p>
            <a:pPr>
              <a:defRPr sz="2200" b="1">
                <a:solidFill>
                  <a:srgbClr val="1F2326"/>
                </a:solidFill>
                <a:latin typeface="Calibri"/>
              </a:defRPr>
            </a:pPr>
            <a:r>
              <a:t>End-to-End Live Demonstration: SmartThings &amp; Multimodal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508760"/>
            <a:ext cx="4297680" cy="4297680"/>
          </a:xfrm>
          <a:prstGeom prst="rect">
            <a:avLst/>
          </a:prstGeom>
          <a:solidFill>
            <a:srgbClr val="23272A"/>
          </a:solidFill>
          <a:ln>
            <a:solidFill>
              <a:srgbClr val="3E4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60920" y="169164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C49A6C"/>
                </a:solidFill>
                <a:latin typeface="Calibri"/>
              </a:defRPr>
            </a:pPr>
            <a:r>
              <a:rPr sz="1400" b="1"/>
              <a:t>[ CLICK TO PLAY DEMO VIDEO ]</a:t>
            </a:r>
          </a:p>
          <a:p>
            <a:endParaRPr sz="1400" b="1"/>
          </a:p>
          <a:p>
            <a:r>
              <a:rPr sz="1200" b="0"/>
              <a:t>Duration: 1 min 50 s</a:t>
            </a:r>
          </a:p>
          <a:p>
            <a:r>
              <a:rPr sz="1200" b="0"/>
              <a:t>Voice: Gemini 3.6 Flash + Silero VAD + Kokoro TTS</a:t>
            </a:r>
          </a:p>
          <a:p>
            <a:r>
              <a:rPr sz="1200" b="0"/>
              <a:t>SmartThings: Real Cloud API — live virtual devices</a:t>
            </a:r>
          </a:p>
          <a:p>
            <a:r>
              <a:rPr sz="1200" b="0"/>
              <a:t>App: Android 14 companion (Hermes, physical device)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6035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DEMO WALKTHROUGH TIMELINE (&lt; 2 MINS)</a:t>
            </a:r>
          </a:p>
          <a:p>
            <a:endParaRPr sz="1500" b="1"/>
          </a:p>
          <a:p>
            <a:r>
              <a:rPr sz="1300" b="1"/>
              <a:t>0:00 – 0:10 | Companion App Joins Room</a:t>
            </a:r>
          </a:p>
          <a:p>
            <a:r>
              <a:rPr sz="1200" b="0"/>
              <a:t>Live device tiles appear (Lock, Garage, AC, Switch, Washer) over WebRTC.</a:t>
            </a:r>
          </a:p>
          <a:p>
            <a:endParaRPr sz="1200" b="0"/>
          </a:p>
          <a:p>
            <a:r>
              <a:rPr sz="1300" b="1"/>
              <a:t>0:10 – 0:40 | Washer Error (4C) Diagnostics</a:t>
            </a:r>
          </a:p>
          <a:p>
            <a:r>
              <a:rPr sz="1200" b="0"/>
              <a:t>Camera reads 7-segment display. Agent diagnoses water supply error and speaks fix.</a:t>
            </a:r>
          </a:p>
          <a:p>
            <a:endParaRPr sz="1200" b="0"/>
          </a:p>
          <a:p>
            <a:r>
              <a:rPr sz="1300" b="1"/>
              <a:t>0:40 – 1:10 | Mid-Speech Correction &amp; G12 Security Gate</a:t>
            </a:r>
          </a:p>
          <a:p>
            <a:r>
              <a:rPr sz="1200" b="0"/>
              <a:t>"Set AC to 24... no, 26" — 24 is cancelled before emit. "Lock door" triggers spoken confirmation.</a:t>
            </a:r>
          </a:p>
          <a:p>
            <a:endParaRPr sz="1200" b="0"/>
          </a:p>
          <a:p>
            <a:r>
              <a:rPr sz="1300" b="1"/>
              <a:t>1:10 – 1:35 | Live Failure Drill ("Sent is Not Done")</a:t>
            </a:r>
          </a:p>
          <a:p>
            <a:r>
              <a:rPr sz="1200" b="0"/>
              <a:t>Jury injects stuck lock. State never confirms. Agent speaks: "Sent, but couldn't confirm."</a:t>
            </a:r>
          </a:p>
          <a:p>
            <a:endParaRPr sz="1200" b="0"/>
          </a:p>
          <a:p>
            <a:r>
              <a:rPr sz="1300" b="1"/>
              <a:t>1:35 – 1:50 | Effect Ledger Summary</a:t>
            </a:r>
          </a:p>
          <a:p>
            <a:r>
              <a:rPr sz="1200" b="0"/>
              <a:t>App displays: 2 committed, 1 cancelled before send, 1 unconfirmed, 0 duplicates.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9100" y="6096000"/>
            <a:ext cx="11353800" cy="495300"/>
          </a:xfrm>
          <a:prstGeom prst="roundRect">
            <a:avLst>
              <a:gd name="adj" fmla="val 1923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9100" y="1566862"/>
            <a:ext cx="3517850" cy="1647825"/>
          </a:xfrm>
          <a:prstGeom prst="roundRect">
            <a:avLst>
              <a:gd name="adj" fmla="val 693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7000" y="1466850"/>
            <a:ext cx="3517850" cy="1847850"/>
          </a:xfrm>
          <a:prstGeom prst="roundRect">
            <a:avLst>
              <a:gd name="adj" fmla="val 618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54900" y="1566862"/>
            <a:ext cx="3517850" cy="1647825"/>
          </a:xfrm>
          <a:prstGeom prst="roundRect">
            <a:avLst>
              <a:gd name="adj" fmla="val 693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9100" y="3714750"/>
            <a:ext cx="5581650" cy="1981200"/>
          </a:xfrm>
          <a:prstGeom prst="roundRect">
            <a:avLst>
              <a:gd name="adj" fmla="val 5769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733800"/>
            <a:ext cx="5581650" cy="1943100"/>
          </a:xfrm>
          <a:prstGeom prst="roundRect">
            <a:avLst>
              <a:gd name="adj" fmla="val 5882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50" y="229552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150" y="2295525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50" y="3936206"/>
            <a:ext cx="28194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9100" y="266700"/>
            <a:ext cx="117729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4ED8"/>
                </a:solidFill>
                <a:latin typeface="Inter"/>
              </a:rPr>
              <a:t>FROM PROTOTYPE TO SAMSUNG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85775"/>
            <a:ext cx="117729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The coordination kernel moves onto Galaxy; the guarantees move with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866775"/>
            <a:ext cx="117729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Today the brain coordinates between local GPU and cloud. The architecture was designed from day one to live on-device.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6998" y="6229350"/>
            <a:ext cx="87799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FFFFFF"/>
                </a:solidFill>
                <a:latin typeface="Inter"/>
              </a:rPr>
              <a:t>Thank you</a:t>
            </a:r>
            <a:r>
              <a:rPr lang="en-US" sz="1500" b="1" dirty="0">
                <a:solidFill>
                  <a:srgbClr val="FFFFFF"/>
                </a:solidFill>
                <a:latin typeface="Inter"/>
              </a:rPr>
              <a:t>.</a:t>
            </a:r>
            <a:endParaRPr sz="15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2960" y="1738312"/>
            <a:ext cx="2812045" cy="2286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334155"/>
                </a:solidFill>
                <a:latin typeface="Inter"/>
              </a:rPr>
              <a:t>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2043112"/>
            <a:ext cx="32321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GPU edge host: Silero VAD, single-writer kernel, Kokoro TTS. Phone: LiveKit audio &amp; companion display. Cloud: Gemini 3.6 Flash / GPT-4.1 for reasoning depth.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4166" y="1663472"/>
            <a:ext cx="3090330" cy="230832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E40AF"/>
                </a:solidFill>
                <a:latin typeface="Inter"/>
              </a:rPr>
              <a:t>Next: On Galaxy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7500" y="1943100"/>
            <a:ext cx="3232100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3A8A"/>
                </a:solidFill>
                <a:latin typeface="Inter"/>
              </a:rPr>
              <a:t>Kernel ported 1:1 to Rust/C++ (same stepped-clock tests); local SLM (Samsung Gauss or Gemma 2B via LiteRT/ONNX); on-device acoustic VAD; cloud invoked only for deep multi-step planning.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8150" y="1704974"/>
            <a:ext cx="3746599" cy="2286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65F46"/>
                </a:solidFill>
                <a:latin typeface="Inter"/>
              </a:rPr>
              <a:t>With Samsung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5400" y="2043112"/>
            <a:ext cx="32321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64E3B"/>
                </a:solidFill>
                <a:latin typeface="Inter"/>
              </a:rPr>
              <a:t>Native Bixby agent routing; Samsung Knox hardware-backed confirmation for security writes (biometric unlock); SmartThings Hub Core integration; Galaxy AI side-button trigger.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027" y="3914775"/>
            <a:ext cx="6775846" cy="2286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92400E"/>
                </a:solidFill>
                <a:latin typeface="Inter"/>
              </a:rPr>
              <a:t>What it is not, yet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4195762"/>
            <a:ext cx="95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8350F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4210050"/>
            <a:ext cx="5048250" cy="4000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8350F"/>
                </a:solidFill>
                <a:latin typeface="Inter"/>
              </a:rPr>
              <a:t>The kernel runs on a host machine today (the phone acts as ears, mouth, and X-ray display).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4652962"/>
            <a:ext cx="95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8350F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4667250"/>
            <a:ext cx="5048250" cy="4000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8350F"/>
                </a:solidFill>
                <a:latin typeface="Inter"/>
              </a:rPr>
              <a:t>Appliance camera reading is evaluated on 7-segment displays (4C error codes). English only.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5110162"/>
            <a:ext cx="95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8350F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5124450"/>
            <a:ext cx="5048250" cy="4000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8350F"/>
                </a:solidFill>
                <a:latin typeface="Inter"/>
              </a:rPr>
              <a:t>No live financial billing; no OS-level cross-app injection (respects Android sandboxing).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100" y="4214812"/>
            <a:ext cx="95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0350" y="4229100"/>
            <a:ext cx="5048250" cy="8001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4532D"/>
                </a:solidFill>
                <a:latin typeface="Inter"/>
              </a:rPr>
              <a:t>Any agent interacting with physical hardware (SmartThings, Bixby, Samsung Care+) requires these non-negotiables: never act on stale data, never book twice, never lie about device state.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5100" y="5091112"/>
            <a:ext cx="95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0350" y="5105400"/>
            <a:ext cx="5048250" cy="4000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4532D"/>
                </a:solidFill>
                <a:latin typeface="Inter"/>
              </a:rPr>
              <a:t>Foundation models are interchangeable commodities. The deterministic coordination kernel is the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1791</Words>
  <Application>Microsoft Office PowerPoint</Application>
  <PresentationFormat>Widescreen</PresentationFormat>
  <Paragraphs>210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V. V. Ramarathinam Iyer</cp:lastModifiedBy>
  <cp:revision>11</cp:revision>
  <dcterms:modified xsi:type="dcterms:W3CDTF">2026-10-25T19:05:58Z</dcterms:modified>
</cp:coreProperties>
</file>