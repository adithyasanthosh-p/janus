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5"/>
    <p:sldId id="259" r:id="rId6"/>
    <p:sldId id="265" r:id="rId9"/>
    <p:sldId id="262" r:id="rId10"/>
    <p:sldId id="261" r:id="rId8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pH3oEiM1vp1BxuWc7vWLulCCA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customschemas.google.com/relationships/presentationmetadata" Target="meta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D68F0DA-994B-0A36-1825-02B7EE19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>
            <a:extLst>
              <a:ext uri="{FF2B5EF4-FFF2-40B4-BE49-F238E27FC236}">
                <a16:creationId xmlns:a16="http://schemas.microsoft.com/office/drawing/2014/main" id="{BCAA8279-405F-A85E-B8DE-AF8B35461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>
            <a:extLst>
              <a:ext uri="{FF2B5EF4-FFF2-40B4-BE49-F238E27FC236}">
                <a16:creationId xmlns:a16="http://schemas.microsoft.com/office/drawing/2014/main" id="{8C5D7C30-C494-4439-A402-E16421727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674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Improvement since the full voice run (hardest recordings only): rerun of the 32 hardest recordings after the speech-to-text GPU fix: 11/32 exact match (was 8/32), turn-taking 32/32 (was 72%). Current code with hosted speech-to-text on the recordings the full run failed: 13/31 judged (same recordings: 4/30 in the full run). Turn-taking in that run: 64/64 (100%).</a:t>
            </a:r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dithyaSanthosh-P/Janus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777240" y="3000000"/>
            <a:ext cx="7598664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None/>
            </a:pP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Theme ID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Theme 05: Interruptible Real-Time Agents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 Name </a:t>
            </a:r>
            <a:r>
              <a:rPr lang="en-US" sz="1300" b="1" dirty="0">
                <a:solidFill>
                  <a:srgbClr val="0F172A"/>
                </a:solidFill>
              </a:rPr>
              <a:t>-</a:t>
            </a: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Janus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Tagline - </a:t>
            </a:r>
            <a:r>
              <a:rPr lang="en-US" sz="1300" b="1" dirty="0">
                <a:solidFill>
                  <a:srgbClr val="0F172A"/>
                </a:solidFill>
              </a:rPr>
              <a:t>The voice agent you can interrupt, correct and trust: models propose, a deterministic kernel decides.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Team Name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AICA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College Name </a:t>
            </a:r>
            <a:r>
              <a:rPr lang="en-US" sz="1300" b="1" dirty="0">
                <a:solidFill>
                  <a:srgbClr val="0F172A"/>
                </a:solidFill>
              </a:rPr>
              <a:t>-</a:t>
            </a: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dirty="0">
                <a:solidFill>
                  <a:srgbClr val="334155"/>
                </a:solidFill>
              </a:rPr>
              <a:t>Vellore Institute Of Technology, Vellore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lvl="0">
              <a:spcBef>
                <a:spcPts val="300"/>
              </a:spcBef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Member Name &amp; Email 1 - </a:t>
            </a:r>
            <a:r>
              <a:rPr lang="en-US" sz="1300" b="0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Adithya Santhosh P (</a:t>
            </a:r>
            <a:r>
              <a:rPr lang="en-US" sz="1300" dirty="0">
                <a:solidFill>
                  <a:schemeClr val="dk1"/>
                </a:solidFill>
              </a:rPr>
              <a:t>adithyasanthosh.p2024@vitstudent.ac.in</a:t>
            </a:r>
            <a:r>
              <a:rPr lang="en-US" sz="1300" b="0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Member Name &amp; Email 2 - </a:t>
            </a:r>
            <a:r>
              <a:rPr lang="en-US" sz="1300" b="0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Eldo John Giby (eldo.johngiby2024@vitstudent.ac.in)</a:t>
            </a:r>
            <a:endParaRPr sz="1300" b="0" i="0" strike="noStrike" cap="none" dirty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300"/>
              </a:spcBef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Member Name &amp; Email 3 - </a:t>
            </a:r>
            <a:r>
              <a:rPr lang="en-US" sz="1300" b="0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1300" b="0" i="0" strike="noStrike" cap="none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300" b="0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Ramarathinam Iye</a:t>
            </a:r>
            <a:r>
              <a:rPr lang="en-US" sz="1300" dirty="0">
                <a:solidFill>
                  <a:srgbClr val="0F172A"/>
                </a:solidFill>
              </a:rPr>
              <a:t>r (ramarathinamiyer.vv2024@vitstudent.ac.in)</a:t>
            </a:r>
            <a:endParaRPr sz="1300" b="0" i="0" strike="noStrike" cap="none" dirty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300"/>
              </a:spcBef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Member Name &amp; Email 4 -</a:t>
            </a:r>
            <a:r>
              <a:rPr lang="en-US" sz="1300" dirty="0">
                <a:solidFill>
                  <a:srgbClr val="0F172A"/>
                </a:solidFill>
              </a:rPr>
              <a:t> Aryaman Tripathi (aryaman.tripathi2024@vitstudent.ac.in)</a:t>
            </a:r>
          </a:p>
          <a:p>
            <a:pPr lvl="0">
              <a:spcBef>
                <a:spcPts val="300"/>
              </a:spcBef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Submission GitHub link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https://github.com/AdithyaSanthosh-P/Janus/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0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 video link - </a:t>
            </a:r>
            <a:r>
              <a:rPr lang="en-US" sz="1300" b="1" i="0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[paste demo video URL here]</a:t>
            </a:r>
            <a:endParaRPr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5512" y="1024128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6507E5-0A9E-D4B8-4E2B-6085B8D79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87" y="573686"/>
            <a:ext cx="4610423" cy="2379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1" dirty="0" sz="3200">
                <a:solidFill>
                  <a:srgbClr val="704EA6"/>
                </a:solidFill>
              </a:rPr>
              <a:t>The Problem with Voice Agents Today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548640" y="1051560"/>
            <a:ext cx="1106424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200"/>
              </a:spcAft>
              <a:buSzPts val="2800"/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The Challenge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Today's AI voice assistants work in half-duplex mode: they listen, think, then speak. Real conversation is never that clean. Users interrupt mid-sentence, revise parameters on the fly and switch tasks while tools are still running. Existing systems freeze, fail or hallucinate.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Build a full-duplex voice agent that stays responsive: reasoning while listening, cancelling stale work atomically and delivering accurate actions without ever confusing the user.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Existing Solutions and Where They Fail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548640" y="3520440"/>
          <a:ext cx="1106424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331720"/>
                <a:gridCol w="2331720"/>
                <a:gridCol w="2331720"/>
                <a:gridCol w="23317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ChatGPT Voice / GPT-4o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Google Duplex / Assistant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Amazon Alexa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LangGraph / AutoGen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Turn-based with barge-in detection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Pre-scripted dialog flows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Single-turn intent classification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Streaming STT + LLM pipeline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Critical gap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Drops context on interruption; no atomic tool cancellation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Brittle outside narrow domains; cannot handle mid-task repairs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 multi-turn tool state; restarts from scratch on interruption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 real-time audio management or floor control; sequential, not concurrent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7030A0"/>
                </a:solidFill>
                <a:latin typeface="Calibri"/>
              </a:rPr>
              <a:t>The gap: </a:t>
            </a:r>
            <a:r>
              <a:rPr sz="1600">
                <a:solidFill>
                  <a:srgbClr val="000000"/>
                </a:solidFill>
                <a:latin typeface="Calibri"/>
              </a:rPr>
              <a:t>no system safely handles continuous audio, in-flight actions and changing intent at the same time. The result is stale actions, false confirmations and double bookings.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1" dirty="0" sz="3200">
                <a:solidFill>
                  <a:srgbClr val="704EA6"/>
                </a:solidFill>
              </a:rPr>
              <a:t>Our Solution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72E97-D78B-6955-C00D-A56F4151B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005840"/>
            <a:ext cx="11064240" cy="30175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Janus: A Single-Writer Coordination Kernel for Full-Duplex Voice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Janus solves the three-way concurrency problem with a deterministic 7-phase synchronous step engine (under 5 ms per step) paired with isolated async workers. All state changes happen inside a single-threaded kernel step, eliminating race conditions by design, not by luck.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Every event, whether a speech chunk, a tool result or a user interruption, passes through the same deterministic pipeline:</a:t>
            </a:r>
          </a:p>
          <a:p>
            <a:pPr algn="ctr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DRAIN → ORDER → APPLY → INVALIDATE → DECIDE → EMIT → LOG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7030A0"/>
                </a:solidFill>
                <a:latin typeface="Calibri"/>
              </a:rPr>
              <a:t>What Makes Janus Unique</a:t>
            </a:r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457200" y="3749039"/>
          <a:ext cx="11247120" cy="1005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Interruption without data loss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Zero duplicate actions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Faster first action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Never talks over the user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Handles "wait, change that"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Chained tool dependencies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How Janus does it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Chunk-anchored cancellation: stale calls are killed mid-utterance, not at end of turn.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Fingerprinted, exactly-once writes: a duplicate (tool, args) is blocked.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Compiles the plan directly from the interpretation, with no separate planning call.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Floor rule: never acts or speaks while the user holds the floor.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Read-set checks plus a short settle window catch hesitation before a write commits.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Late binding: arguments are resolved from live upstream results.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1" dirty="0" sz="3000">
                <a:solidFill>
                  <a:srgbClr val="704EA6"/>
                </a:solidFill>
              </a:rPr>
              <a:t>Architecture: Models Propose, the Kernel Decides</a:t>
            </a:r>
            <a:endParaRPr dirty="0"/>
          </a:p>
        </p:txBody>
      </p:sp>
      <p:pic>
        <p:nvPicPr>
          <p:cNvPr id="124" name="Picture 12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47" y="1005840"/>
            <a:ext cx="94488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112471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2800" b="1" dirty="0">
                <a:solidFill>
                  <a:srgbClr val="704EA6"/>
                </a:solidFill>
              </a:rPr>
              <a:t>Technology Stack</a:t>
            </a:r>
            <a:br>
              <a:rPr lang="en-US" sz="2800" b="1" dirty="0">
                <a:solidFill>
                  <a:srgbClr val="704EA6"/>
                </a:solidFill>
              </a:rPr>
            </a:br>
            <a:endParaRPr sz="2500" b="1" dirty="0">
              <a:solidFill>
                <a:srgbClr val="0F172A"/>
              </a:solidFill>
            </a:endParaRPr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706025" y="789600"/>
            <a:ext cx="10515600" cy="57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500" b="1" dirty="0">
                <a:solidFill>
                  <a:srgbClr val="7030A0"/>
                </a:solidFill>
              </a:rPr>
              <a:t>Core Kernel &amp; Coordination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Runtime &amp; Language: Python 3.11 (compatible with 3.10–3.12)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Data &amp; Schema Integrity: </a:t>
            </a:r>
            <a:r>
              <a:rPr lang="en-GB" sz="1200" dirty="0" err="1">
                <a:solidFill>
                  <a:schemeClr val="tx1"/>
                </a:solidFill>
              </a:rPr>
              <a:t>Pydantic</a:t>
            </a:r>
            <a:r>
              <a:rPr lang="en-GB" sz="1200" dirty="0">
                <a:solidFill>
                  <a:schemeClr val="tx1"/>
                </a:solidFill>
              </a:rPr>
              <a:t> v2.6+ (immutable state records, read-set validation), </a:t>
            </a:r>
            <a:r>
              <a:rPr lang="en-GB" sz="1200" dirty="0" err="1">
                <a:solidFill>
                  <a:schemeClr val="tx1"/>
                </a:solidFill>
              </a:rPr>
              <a:t>PyYAML</a:t>
            </a:r>
            <a:endParaRPr lang="en-GB" sz="1200" dirty="0">
              <a:solidFill>
                <a:schemeClr val="tx1"/>
              </a:solidFill>
            </a:endParaRP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Coordination Engine: Custom Single-Writer Synchronous Kernel (7-phase deterministic step, under 5 ms per step)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Deterministic Clock: Stepped </a:t>
            </a:r>
            <a:r>
              <a:rPr lang="en-GB" sz="1200" dirty="0" err="1">
                <a:solidFill>
                  <a:schemeClr val="tx1"/>
                </a:solidFill>
              </a:rPr>
              <a:t>ClockPort</a:t>
            </a:r>
            <a:r>
              <a:rPr lang="en-GB" sz="1200" dirty="0">
                <a:solidFill>
                  <a:schemeClr val="tx1"/>
                </a:solidFill>
              </a:rPr>
              <a:t> (zero wall-clock dependencies; 100% byte-identical </a:t>
            </a:r>
            <a:r>
              <a:rPr lang="en-GB" sz="1200" dirty="0" err="1">
                <a:solidFill>
                  <a:schemeClr val="tx1"/>
                </a:solidFill>
              </a:rPr>
              <a:t>replayability</a:t>
            </a:r>
            <a:r>
              <a:rPr lang="en-GB" sz="1200" dirty="0">
                <a:solidFill>
                  <a:schemeClr val="tx1"/>
                </a:solidFill>
              </a:rPr>
              <a:t>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b="1" dirty="0">
                <a:solidFill>
                  <a:srgbClr val="7030A0"/>
                </a:solidFill>
              </a:rPr>
              <a:t>  </a:t>
            </a:r>
            <a:r>
              <a:rPr lang="en-GB" sz="1500" b="1" dirty="0">
                <a:solidFill>
                  <a:srgbClr val="7030A0"/>
                </a:solidFill>
              </a:rPr>
              <a:t>Real-Time Audio &amp; Vision Edge 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WebRTC &amp; Streaming: </a:t>
            </a:r>
            <a:r>
              <a:rPr lang="en-GB" sz="1200" dirty="0" err="1">
                <a:solidFill>
                  <a:schemeClr val="tx1"/>
                </a:solidFill>
              </a:rPr>
              <a:t>LiveKit</a:t>
            </a:r>
            <a:r>
              <a:rPr lang="en-GB" sz="1200" dirty="0">
                <a:solidFill>
                  <a:schemeClr val="tx1"/>
                </a:solidFill>
              </a:rPr>
              <a:t> Agents SDK v1.8.3 (</a:t>
            </a:r>
            <a:r>
              <a:rPr lang="en-GB" sz="1200" dirty="0" err="1">
                <a:solidFill>
                  <a:schemeClr val="tx1"/>
                </a:solidFill>
              </a:rPr>
              <a:t>livekit</a:t>
            </a:r>
            <a:r>
              <a:rPr lang="en-GB" sz="1200" dirty="0">
                <a:solidFill>
                  <a:schemeClr val="tx1"/>
                </a:solidFill>
              </a:rPr>
              <a:t>-agents)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Voice Activity Detection (VAD): Silero VAD v5 (turn boundary and barge-in detection)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Speech-to-Text (STT): OpenAI gpt-4o-mini-transcribe (default, pinned snapshot); faster-whisper large-v3-turbo on the GPU as a local option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Text-to-Speech (TTS): Kokoro-82M v0.9.4 + Misaki + spaCy (instant low-latency neural synthesis)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Vision Ingestion: WebRTC Video Sampler (1 fps JPEG extraction for multimodal grounding)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endParaRPr lang="en-GB" sz="12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500" b="1" dirty="0">
                <a:solidFill>
                  <a:srgbClr val="7030A0"/>
                </a:solidFill>
              </a:rPr>
              <a:t>Reasoning &amp; Foundation Models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Decision &amp; Worker LLMs: Google Gemini 3.6 Flash / 3.5 Flash (hosted API, temperature=0, thinking budget 0)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Async workers: Interpreter (intent), Planner / </a:t>
            </a:r>
            <a:r>
              <a:rPr lang="en-GB" sz="1200" dirty="0" err="1">
                <a:solidFill>
                  <a:schemeClr val="tx1"/>
                </a:solidFill>
              </a:rPr>
              <a:t>Rebinder</a:t>
            </a:r>
            <a:r>
              <a:rPr lang="en-GB" sz="1200" dirty="0">
                <a:solidFill>
                  <a:schemeClr val="tx1"/>
                </a:solidFill>
              </a:rPr>
              <a:t> (DAGs), Composer (grounded speech)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Visual Reasoning: Gemini Multimodal Vision Worker (</a:t>
            </a:r>
            <a:r>
              <a:rPr lang="en-GB" sz="1200" dirty="0" err="1">
                <a:solidFill>
                  <a:schemeClr val="tx1"/>
                </a:solidFill>
              </a:rPr>
              <a:t>MediaPart</a:t>
            </a:r>
            <a:r>
              <a:rPr lang="en-GB" sz="1200" dirty="0">
                <a:solidFill>
                  <a:schemeClr val="tx1"/>
                </a:solidFill>
              </a:rPr>
              <a:t> / </a:t>
            </a:r>
            <a:r>
              <a:rPr lang="en-GB" sz="1200" dirty="0" err="1">
                <a:solidFill>
                  <a:schemeClr val="tx1"/>
                </a:solidFill>
              </a:rPr>
              <a:t>blob_resolver</a:t>
            </a:r>
            <a:r>
              <a:rPr lang="en-GB" sz="1200" dirty="0">
                <a:solidFill>
                  <a:schemeClr val="tx1"/>
                </a:solidFill>
              </a:rPr>
              <a:t>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Domain Tools &amp; Extensions: FDB-v3 Domain APIs (Finance, Travel, E-Commerce, Housing) + Device Care Diagnostic Tools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endParaRPr lang="en-GB" sz="1200" dirty="0">
              <a:solidFill>
                <a:schemeClr val="tx1"/>
              </a:solidFill>
            </a:endParaRP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500" b="1" dirty="0">
                <a:solidFill>
                  <a:srgbClr val="7030A0"/>
                </a:solidFill>
              </a:rPr>
              <a:t>Benchmark, Testing &amp; Infrastructure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Primary Benchmark: Full-Duplex-Bench v3 (FDB-v3) + NVIDIA Parakeet-TDT 0.6B (</a:t>
            </a:r>
            <a:r>
              <a:rPr lang="en-GB" sz="1200" dirty="0" err="1">
                <a:solidFill>
                  <a:schemeClr val="tx1"/>
                </a:solidFill>
              </a:rPr>
              <a:t>NeMo</a:t>
            </a:r>
            <a:r>
              <a:rPr lang="en-GB" sz="1200" dirty="0">
                <a:solidFill>
                  <a:schemeClr val="tx1"/>
                </a:solidFill>
              </a:rPr>
              <a:t> ASR scorer)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Evaluation Judge: OpenAI GPT-4o (semantic argument &amp; response quality evaluation)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Verification &amp; Testing: pytest (499 deterministic tests) + TraceChecker (commit gate &amp; floor rule audits)</a:t>
            </a:r>
          </a:p>
          <a:p>
            <a:pPr marL="0" lv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GB" sz="1200" dirty="0">
                <a:solidFill>
                  <a:schemeClr val="tx1"/>
                </a:solidFill>
              </a:rPr>
              <a:t>  • Deployment &amp; Containerization: Docker (</a:t>
            </a:r>
            <a:r>
              <a:rPr lang="en-GB" sz="1200" dirty="0" err="1">
                <a:solidFill>
                  <a:schemeClr val="tx1"/>
                </a:solidFill>
              </a:rPr>
              <a:t>nvidia</a:t>
            </a:r>
            <a:r>
              <a:rPr lang="en-GB" sz="1200" dirty="0">
                <a:solidFill>
                  <a:schemeClr val="tx1"/>
                </a:solidFill>
              </a:rPr>
              <a:t>/cuda:12.4.1, PyTorch v2.14 / CUDA 12.6) + ./reproduce.sh (one-command SHA-256 verified build &amp; run)</a:t>
            </a: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76EC0BCE-9B5C-F011-3911-F7BA684F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>
            <a:extLst>
              <a:ext uri="{FF2B5EF4-FFF2-40B4-BE49-F238E27FC236}">
                <a16:creationId xmlns:a16="http://schemas.microsoft.com/office/drawing/2014/main" id="{3B6CED97-A3E3-8FD6-0061-ABD6EC311E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1" dirty="0" sz="2800">
                <a:solidFill>
                  <a:srgbClr val="704EA6"/>
                </a:solidFill>
              </a:rPr>
              <a:t>Extension: Camera-Grounded Device Care, Built for the Samsung Ecosystem</a:t>
            </a:r>
            <a:endParaRPr b="1" dirty="0">
              <a:solidFill>
                <a:srgbClr val="0F172A"/>
              </a:solidFill>
            </a:endParaRPr>
          </a:p>
        </p:txBody>
      </p:sp>
      <p:sp>
        <p:nvSpPr>
          <p:cNvPr id="136" name="Google Shape;136;p6">
            <a:extLst>
              <a:ext uri="{FF2B5EF4-FFF2-40B4-BE49-F238E27FC236}">
                <a16:creationId xmlns:a16="http://schemas.microsoft.com/office/drawing/2014/main" id="{16CE04E1-4DAC-CB83-8E0F-9732EA246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200" b="1">
                <a:solidFill>
                  <a:srgbClr val="7030A0"/>
                </a:solidFill>
                <a:latin typeface="Calibri"/>
              </a:rPr>
              <a:t>Delivered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Point-and-Ask Diagnostics: </a:t>
            </a:r>
            <a:r>
              <a:rPr sz="1700">
                <a:solidFill>
                  <a:srgbClr val="000000"/>
                </a:solidFill>
                <a:latin typeface="Calibri"/>
              </a:rPr>
              <a:t>the user points a phone camera at an appliance (blinking router LED, washer error code) and speaks naturally, without technical jargon.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Looks before it asks: </a:t>
            </a:r>
            <a:r>
              <a:rPr sz="1700">
                <a:solidFill>
                  <a:srgbClr val="000000"/>
                </a:solidFill>
                <a:latin typeface="Calibri"/>
              </a:rPr>
              <a:t>with the camera on, it reads the device before asking the user a question.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Camera-Grounded Reasoning: </a:t>
            </a:r>
            <a:r>
              <a:rPr sz="1700">
                <a:solidFill>
                  <a:srgbClr val="000000"/>
                </a:solidFill>
                <a:latin typeface="Calibri"/>
              </a:rPr>
              <a:t>the vision worker extracts visual telemetry from video frames to look up diagnostic fixes in real time.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Interruption-Safe Action: </a:t>
            </a:r>
            <a:r>
              <a:rPr sz="1700">
                <a:solidFill>
                  <a:srgbClr val="000000"/>
                </a:solidFill>
                <a:latin typeface="Calibri"/>
              </a:rPr>
              <a:t>mid-utterance date changes ("Book Thursday morning... actually make it Friday") guarantee exactly one technician visit via CommitGate.</a:t>
            </a:r>
          </a:p>
          <a:p>
            <a:pPr marL="0" indent="0">
              <a:spcBef>
                <a:spcPts val="1400"/>
              </a:spcBef>
              <a:spcAft>
                <a:spcPts val="800"/>
              </a:spcAft>
              <a:buNone/>
            </a:pPr>
            <a:r>
              <a:rPr sz="2200" b="1">
                <a:solidFill>
                  <a:srgbClr val="7030A0"/>
                </a:solidFill>
                <a:latin typeface="Calibri"/>
              </a:rPr>
              <a:t>Roadmap: Samsung Integration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Galaxy AI &amp; Bixby: </a:t>
            </a:r>
            <a:r>
              <a:rPr sz="1700">
                <a:solidFill>
                  <a:srgbClr val="000000"/>
                </a:solidFill>
                <a:latin typeface="Calibri"/>
              </a:rPr>
              <a:t>direct integration into the Galaxy Camera viewfinder for hands-free, real-time visual troubleshooting.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SmartThings Ecosystem: </a:t>
            </a:r>
            <a:r>
              <a:rPr sz="1700">
                <a:solidFill>
                  <a:srgbClr val="000000"/>
                </a:solidFill>
                <a:latin typeface="Calibri"/>
              </a:rPr>
              <a:t>correlates live camera feeds with IoT diagnostics across Bespoke Refrigerators, Washers, ACs and Smart TVs.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Samsung Care+ Automation: </a:t>
            </a:r>
            <a:r>
              <a:rPr sz="1700">
                <a:solidFill>
                  <a:srgbClr val="000000"/>
                </a:solidFill>
                <a:latin typeface="Calibri"/>
              </a:rPr>
              <a:t>safe, automated service booking and ticket dispatch with fingerprinted, exactly-once bookings.</a:t>
            </a:r>
          </a:p>
          <a:p>
            <a:pPr marL="201168" indent="-201168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On-Device NPU Ready: </a:t>
            </a:r>
            <a:r>
              <a:rPr sz="1700">
                <a:solidFill>
                  <a:srgbClr val="000000"/>
                </a:solidFill>
                <a:latin typeface="Calibri"/>
              </a:rPr>
              <a:t>the lightweight kernel and local audio stack can run on Samsung Exynos / Snapdragon NPUs alongside Samsung Gauss models.</a:t>
            </a:r>
          </a:p>
        </p:txBody>
      </p:sp>
    </p:spTree>
    <p:extLst>
      <p:ext uri="{BB962C8B-B14F-4D97-AF65-F5344CB8AC3E}">
        <p14:creationId xmlns:p14="http://schemas.microsoft.com/office/powerpoint/2010/main" val="397554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 sz="3200">
                <a:solidFill>
                  <a:srgbClr val="704EA6"/>
                </a:solidFill>
              </a:rPr>
              <a:t>Innovation &amp; Results</a:t>
            </a:r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411480" y="960120"/>
            <a:ext cx="425196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>
              <a:spcBef>
                <a:spcPts val="0"/>
              </a:spcBef>
              <a:spcAft>
                <a:spcPts val="500"/>
              </a:spcAft>
              <a:buSzPct val="119507"/>
              <a:buNone/>
            </a:pPr>
            <a:r>
              <a:rPr sz="1400" b="1">
                <a:solidFill>
                  <a:srgbClr val="7030A0"/>
                </a:solidFill>
                <a:latin typeface="Calibri"/>
              </a:rPr>
              <a:t>Key Innovations: Why Janus Is Different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50" b="1">
                <a:solidFill>
                  <a:srgbClr val="7030A0"/>
                </a:solidFill>
                <a:latin typeface="Calibri"/>
              </a:rPr>
              <a:t>Single-writer safety kernel (under 5 ms per step). </a:t>
            </a:r>
            <a:r>
              <a:rPr sz="1150">
                <a:solidFill>
                  <a:srgbClr val="000000"/>
                </a:solidFill>
                <a:latin typeface="Calibri"/>
              </a:rPr>
              <a:t>Models only propose; a synchronous kernel arbitrates every state change and tool call.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50" b="1">
                <a:solidFill>
                  <a:srgbClr val="7030A0"/>
                </a:solidFill>
                <a:latin typeface="Calibri"/>
              </a:rPr>
              <a:t>Same-step cancellation with read sets. </a:t>
            </a:r>
            <a:r>
              <a:rPr sz="1150">
                <a:solidFill>
                  <a:srgbClr val="000000"/>
                </a:solidFill>
                <a:latin typeface="Calibri"/>
              </a:rPr>
              <a:t>Every result records the (fact, version, digest) it read; if one changes, that work is cancelled in the same step.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50" b="1">
                <a:solidFill>
                  <a:srgbClr val="7030A0"/>
                </a:solidFill>
                <a:latin typeface="Calibri"/>
              </a:rPr>
              <a:t>CommitGate (G1–G11) and settle window. </a:t>
            </a:r>
            <a:r>
              <a:rPr sz="1150">
                <a:solidFill>
                  <a:srgbClr val="000000"/>
                </a:solidFill>
                <a:latin typeface="Calibri"/>
              </a:rPr>
              <a:t>Separates speculative reads from irreversible writes, so each write happens exactly once.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50" b="1">
                <a:solidFill>
                  <a:srgbClr val="7030A0"/>
                </a:solidFill>
                <a:latin typeface="Calibri"/>
              </a:rPr>
              <a:t>Speculative interpretation and floor rule. </a:t>
            </a:r>
            <a:r>
              <a:rPr sz="1150">
                <a:solidFill>
                  <a:srgbClr val="000000"/>
                </a:solidFill>
                <a:latin typeface="Calibri"/>
              </a:rPr>
              <a:t>Pre-interprets speech while the user talks, with zero added latency when the prediction holds.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50" b="1">
                <a:solidFill>
                  <a:srgbClr val="7030A0"/>
                </a:solidFill>
                <a:latin typeface="Calibri"/>
              </a:rPr>
              <a:t>Deterministic replay and automated invariant checks. </a:t>
            </a:r>
            <a:r>
              <a:rPr sz="1150">
                <a:solidFill>
                  <a:srgbClr val="000000"/>
                </a:solidFill>
                <a:latin typeface="Calibri"/>
              </a:rPr>
              <a:t>A stepped virtual clock gives byte-identical replays, audited by the trace checker.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50" b="1">
                <a:solidFill>
                  <a:srgbClr val="7030A0"/>
                </a:solidFill>
                <a:latin typeface="Calibri"/>
              </a:rPr>
              <a:t>Camera-grounded multimodal safety. </a:t>
            </a:r>
            <a:r>
              <a:rPr sz="1150">
                <a:solidFill>
                  <a:srgbClr val="000000"/>
                </a:solidFill>
                <a:latin typeface="Calibri"/>
              </a:rPr>
              <a:t>1 fps video plus voice for hands-free, interruption-safe troubleshooting.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892040" y="1005840"/>
            <a:ext cx="2240280" cy="1691640"/>
          </a:xfrm>
          <a:prstGeom prst="roundRect">
            <a:avLst>
              <a:gd name="adj" fmla="val 8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4800" b="1">
                <a:solidFill>
                  <a:srgbClr val="FFFFFF"/>
                </a:solidFill>
                <a:latin typeface="Calibri"/>
              </a:rPr>
              <a:t>0.412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</a:rPr>
              <a:t>self-correction Pass@1 on voice vs 0.176 for the published cascaded pipeline</a:t>
            </a: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7269480" y="1005840"/>
          <a:ext cx="448056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6459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Self-correction (Table 3)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Pass@1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Janus reasoning core (text replay)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Janus full voice path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GPT-Realtime (published)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Gemini Live 3.1 (published)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0.353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Cascaded pipeline (published)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4892040" y="2788920"/>
            <a:ext cx="6858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7030A0"/>
                </a:solidFill>
                <a:latin typeface="Calibri"/>
              </a:rPr>
              <a:t>Full-Duplex-Bench v3, all 100 scenarios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4892040" y="3063240"/>
          <a:ext cx="685800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1051560"/>
                <a:gridCol w="960120"/>
                <a:gridCol w="105156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Strict pass@1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Tool selection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Argument accuracy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Response quality</a:t>
                      </a:r>
                    </a:p>
                  </a:txBody>
                  <a:tcPr marL="64008" marR="64008" marT="27432" marB="27432" anchor="ctr">
                    <a:solidFill>
                      <a:srgbClr val="7030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Reasoning core (text replay, Gemini 3.6 Flash, judged)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77.0%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0.807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Full voice path (LiveKit, 100 recordings, judged)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42.0% (41% exact)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0.611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0.597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Published: GPT-Realtime / Gemini Live 3.1 / Cascaded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60 / 54 / 45%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0.876 / 0.817 / 0.803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0.680 / 0.588 / 0.562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0.792 / 0.718 / 0.600</a:t>
                      </a:r>
                    </a:p>
                  </a:txBody>
                  <a:tcPr marL="64008" marR="64008" marT="27432" marB="27432" anchor="ctr">
                    <a:solidFill>
                      <a:srgbClr val="F3EEF9"/>
                    </a:solidFill>
                  </a:tcPr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4892040" y="4663440"/>
            <a:ext cx="690372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7030A0"/>
                </a:solidFill>
                <a:latin typeface="Calibri"/>
              </a:rPr>
              <a:t>By domain (text replay): </a:t>
            </a:r>
            <a:r>
              <a:rPr sz="1050">
                <a:solidFill>
                  <a:srgbClr val="000000"/>
                </a:solidFill>
                <a:latin typeface="Calibri"/>
              </a:rPr>
              <a:t>Finance 100%, Travel 95%, E-commerce 83%, Housing 35%.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7030A0"/>
                </a:solidFill>
                <a:latin typeface="Calibri"/>
              </a:rPr>
              <a:t>Latency (voice): </a:t>
            </a:r>
            <a:r>
              <a:rPr sz="1050">
                <a:solidFill>
                  <a:srgbClr val="000000"/>
                </a:solidFill>
                <a:latin typeface="Calibri"/>
              </a:rPr>
              <a:t>7.8 s mean time to first word (6.7 s median) vs 8.78 s for the cascaded pipeline; part of it is deliberate (a turn closes after 1.5 s of silence, and writes wait a short settle window so late corrections land).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7030A0"/>
                </a:solidFill>
                <a:latin typeface="Calibri"/>
              </a:rPr>
              <a:t>Engineering: </a:t>
            </a:r>
            <a:r>
              <a:rPr sz="1050">
                <a:solidFill>
                  <a:srgbClr val="000000"/>
                </a:solidFill>
                <a:latin typeface="Calibri"/>
              </a:rPr>
              <a:t>499 deterministic tests pass with the trace checker run over every decision log; replays are byte-identical; the adversarial explorer covers 19 race scenarios.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5852160"/>
            <a:ext cx="113842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7030A0"/>
                </a:solidFill>
                <a:latin typeface="Calibri"/>
              </a:rPr>
              <a:t>Known Limits</a:t>
            </a:r>
          </a:p>
          <a:p>
            <a:pPr marL="201168" indent="-201168">
              <a:spcBef>
                <a:spcPts val="0"/>
              </a:spcBef>
              <a:spcAft>
                <a:spcPts val="1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Calibri"/>
              </a:rPr>
              <a:t>Voice trails text replay (42.0% vs 77.0%), largely from misheard proper nouns; Housing (35%) is the hardest domain for every published system too.</a:t>
            </a:r>
          </a:p>
          <a:p>
            <a:pPr marL="201168" indent="-201168">
              <a:spcBef>
                <a:spcPts val="0"/>
              </a:spcBef>
              <a:spcAft>
                <a:spcPts val="0"/>
              </a:spcAft>
              <a:buChar char="•"/>
            </a:pPr>
            <a:r>
              <a:rPr sz="1100">
                <a:solidFill>
                  <a:srgbClr val="000000"/>
                </a:solidFill>
                <a:latin typeface="Calibri"/>
              </a:rPr>
              <a:t>The hosted Gemini API adds network latency, and the camera is sampled at about 1 fps, so fast LED blinking needs a spoken cue.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1" dirty="0" sz="3200">
                <a:solidFill>
                  <a:srgbClr val="704EA6"/>
                </a:solidFill>
              </a:rPr>
              <a:t>What’s Next</a:t>
            </a:r>
            <a:endParaRPr dirty="0"/>
          </a:p>
        </p:txBody>
      </p:sp>
      <p:sp>
        <p:nvSpPr>
          <p:cNvPr id="148" name="Google Shape;148;p9"/>
          <p:cNvSpPr txBox="1">
            <a:spLocks noGrp="1"/>
          </p:cNvSpPr>
          <p:nvPr>
            <p:ph type="body" idx="1"/>
          </p:nvPr>
        </p:nvSpPr>
        <p:spPr>
          <a:xfrm>
            <a:off x="548640" y="1051560"/>
            <a:ext cx="1106424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01168" lvl="0" indent="-201168">
              <a:spcBef>
                <a:spcPts val="0"/>
              </a:spcBef>
              <a:spcAft>
                <a:spcPts val="200"/>
              </a:spcAft>
              <a:buSzPts val="2800"/>
              <a:buChar char="•"/>
            </a:pPr>
            <a:r>
              <a:rPr sz="1900" b="1">
                <a:solidFill>
                  <a:srgbClr val="7030A0"/>
                </a:solidFill>
                <a:latin typeface="Calibri"/>
              </a:rPr>
              <a:t>Streaming ASR &amp; Entity Recognition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Speech-to-text is already hosted (gpt-4o-mini-transcribe). Next: a streaming ASR (NVIDIA Parakeet) for better proper nouns and lower latency.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>
                <a:solidFill>
                  <a:srgbClr val="704EA6"/>
                </a:solidFill>
                <a:latin typeface="Calibri"/>
              </a:rPr>
              <a:t>→ Fewer misheard cities and model numbers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>
                <a:solidFill>
                  <a:srgbClr val="7030A0"/>
                </a:solidFill>
                <a:latin typeface="Calibri"/>
              </a:rPr>
              <a:t>Proactive Dialogue &amp; Multi-Slot Reasoning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Move from passive settle-time barriers to clarification dialogues ("I found two options, shall I book the 6 PM one?") and better handling of complex multi-constraint queries (Housing).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>
                <a:solidFill>
                  <a:srgbClr val="704EA6"/>
                </a:solidFill>
                <a:latin typeface="Calibri"/>
              </a:rPr>
              <a:t>→ Fewer wrong bookings on hard requests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>
                <a:solidFill>
                  <a:srgbClr val="7030A0"/>
                </a:solidFill>
                <a:latin typeface="Calibri"/>
              </a:rPr>
              <a:t>Temporal Video Diagnostics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Upgrade from 1 fps still frames to multi-frame analysis to detect high-frequency blinking LED patterns and dynamic appliance states.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>
                <a:solidFill>
                  <a:srgbClr val="704EA6"/>
                </a:solidFill>
                <a:latin typeface="Calibri"/>
              </a:rPr>
              <a:t>→ Reads blinking-LED codes without a spoken cue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>
                <a:solidFill>
                  <a:srgbClr val="7030A0"/>
                </a:solidFill>
                <a:latin typeface="Calibri"/>
              </a:rPr>
              <a:t>On-Device NPU Porting (Galaxy AI)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Port the lightweight synchronous kernel and local speech stack to Samsung Exynos / Snapdragon NPUs for offline, ultra-low-latency execution.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>
                <a:solidFill>
                  <a:srgbClr val="704EA6"/>
                </a:solidFill>
                <a:latin typeface="Calibri"/>
              </a:rPr>
              <a:t>→ Galaxy devices, offline</a:t>
            </a:r>
          </a:p>
          <a:p>
            <a:pPr marL="201168" indent="-201168">
              <a:spcBef>
                <a:spcPts val="0"/>
              </a:spcBef>
              <a:spcAft>
                <a:spcPts val="200"/>
              </a:spcAft>
              <a:buChar char="•"/>
            </a:pPr>
            <a:r>
              <a:rPr sz="1900" b="1">
                <a:solidFill>
                  <a:srgbClr val="7030A0"/>
                </a:solidFill>
                <a:latin typeface="Calibri"/>
              </a:rPr>
              <a:t>Production Samsung Ecosystem Bridge</a:t>
            </a:r>
          </a:p>
          <a:p>
            <a:pPr marL="201168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1600">
                <a:solidFill>
                  <a:srgbClr val="000000"/>
                </a:solidFill>
                <a:latin typeface="Calibri"/>
              </a:rPr>
              <a:t>Plug Samsung Gauss / Bixby in as the reasoning engine via the existing ModelGateway, plus direct SmartThings and Samsung Care+ APIs for live appliance telemetry, error-code lookup and automated technician dispatch.</a:t>
            </a:r>
          </a:p>
          <a:p>
            <a:pPr marL="201168" indent="0">
              <a:spcBef>
                <a:spcPts val="0"/>
              </a:spcBef>
              <a:spcAft>
                <a:spcPts val="1300"/>
              </a:spcAft>
              <a:buNone/>
            </a:pPr>
            <a:r>
              <a:rPr sz="1600" b="1" i="1">
                <a:solidFill>
                  <a:srgbClr val="704EA6"/>
                </a:solidFill>
                <a:latin typeface="Calibri"/>
              </a:rPr>
              <a:t>→ Real Samsung devices, real service tickets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1636</Words>
  <Application>Microsoft Office PowerPoint</Application>
  <PresentationFormat>Widescreen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</vt:lpstr>
      <vt:lpstr>Architecture Diagram</vt:lpstr>
      <vt:lpstr>Demo &amp; Product Walkthrough</vt:lpstr>
      <vt:lpstr>Tools and tech stack used  </vt:lpstr>
      <vt:lpstr>Impact &amp; Samsung Ecosystem Use cases</vt:lpstr>
      <vt:lpstr>Innovation highlights, results and limitations</vt:lpstr>
      <vt:lpstr>What’s next</vt:lpstr>
      <vt:lpstr>Brownie points slide( differentiation)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Eldo John Giby</cp:lastModifiedBy>
  <cp:revision>6</cp:revision>
  <dcterms:created xsi:type="dcterms:W3CDTF">2026-09-07T12:01:01Z</dcterms:created>
  <dcterms:modified xsi:type="dcterms:W3CDTF">2026-09-30T17:47:50Z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