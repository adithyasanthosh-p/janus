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5" r:id="rId9"/>
    <p:sldId id="262" r:id="rId10"/>
    <p:sldId id="263" r:id="rId11"/>
    <p:sldId id="266" r:id="rId1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4" roundtripDataSignature="AMtx7mipH3oEiM1vp1BxuWc7vWLulCCAO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8" autoAdjust="0"/>
    <p:restoredTop sz="94660"/>
  </p:normalViewPr>
  <p:slideViewPr>
    <p:cSldViewPr snapToGrid="0">
      <p:cViewPr varScale="1">
        <p:scale>
          <a:sx n="84" d="100"/>
          <a:sy n="84" d="100"/>
        </p:scale>
        <p:origin x="49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>
          <a:extLst>
            <a:ext uri="{FF2B5EF4-FFF2-40B4-BE49-F238E27FC236}">
              <a16:creationId xmlns:a16="http://schemas.microsoft.com/office/drawing/2014/main" id="{EB2F48F8-DE66-357F-CCB9-67591673C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>
            <a:extLst>
              <a:ext uri="{FF2B5EF4-FFF2-40B4-BE49-F238E27FC236}">
                <a16:creationId xmlns:a16="http://schemas.microsoft.com/office/drawing/2014/main" id="{ED57681B-7F7B-E661-0F7D-6798BBA37B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9" name="Google Shape;99;p2:notes">
            <a:extLst>
              <a:ext uri="{FF2B5EF4-FFF2-40B4-BE49-F238E27FC236}">
                <a16:creationId xmlns:a16="http://schemas.microsoft.com/office/drawing/2014/main" id="{902A2619-94D6-97ED-6147-9B3C20CCA2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676115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5" name="Google Shape;10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7" name="Google Shape;12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3" name="Google Shape;13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6D68F0DA-994B-0A36-1825-02B7EE198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>
            <a:extLst>
              <a:ext uri="{FF2B5EF4-FFF2-40B4-BE49-F238E27FC236}">
                <a16:creationId xmlns:a16="http://schemas.microsoft.com/office/drawing/2014/main" id="{BCAA8279-405F-A85E-B8DE-AF8B35461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3" name="Google Shape;133;p6:notes">
            <a:extLst>
              <a:ext uri="{FF2B5EF4-FFF2-40B4-BE49-F238E27FC236}">
                <a16:creationId xmlns:a16="http://schemas.microsoft.com/office/drawing/2014/main" id="{8C5D7C30-C494-4439-A402-E16421727D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126745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9" name="Google Shape;13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5" name="Google Shape;14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>
          <a:extLst>
            <a:ext uri="{FF2B5EF4-FFF2-40B4-BE49-F238E27FC236}">
              <a16:creationId xmlns:a16="http://schemas.microsoft.com/office/drawing/2014/main" id="{A432FF9A-2FD5-14B7-365A-D4BA292AE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9:notes">
            <a:extLst>
              <a:ext uri="{FF2B5EF4-FFF2-40B4-BE49-F238E27FC236}">
                <a16:creationId xmlns:a16="http://schemas.microsoft.com/office/drawing/2014/main" id="{27179D6B-329F-B675-B1A3-54AD09BCEF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5" name="Google Shape;145;p9:notes">
            <a:extLst>
              <a:ext uri="{FF2B5EF4-FFF2-40B4-BE49-F238E27FC236}">
                <a16:creationId xmlns:a16="http://schemas.microsoft.com/office/drawing/2014/main" id="{828B6883-1449-2BAB-4DA0-85F9E72628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5853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dithyaSanthosh-P/Janu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"/>
          <p:cNvSpPr txBox="1"/>
          <p:nvPr/>
        </p:nvSpPr>
        <p:spPr>
          <a:xfrm>
            <a:off x="777240" y="3310128"/>
            <a:ext cx="7598664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None/>
            </a:pPr>
            <a:endParaRPr sz="1400" b="0" i="0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Theme ID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Theme 05: Interruptible Real-Time Agents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Project Name </a:t>
            </a:r>
            <a:r>
              <a:rPr lang="en-US" sz="1300" b="1" dirty="0">
                <a:solidFill>
                  <a:srgbClr val="0F172A"/>
                </a:solidFill>
              </a:rPr>
              <a:t>-</a:t>
            </a: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Janus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Team Name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AICA</a:t>
            </a:r>
            <a:endParaRPr lang="en-US"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College Name </a:t>
            </a:r>
            <a:r>
              <a:rPr lang="en-US" sz="1300" b="1" dirty="0">
                <a:solidFill>
                  <a:srgbClr val="0F172A"/>
                </a:solidFill>
              </a:rPr>
              <a:t>-</a:t>
            </a: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dirty="0">
                <a:solidFill>
                  <a:srgbClr val="334155"/>
                </a:solidFill>
              </a:rPr>
              <a:t>Vellore Institute Of Technology, Vellore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endParaRPr dirty="0"/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1 - </a:t>
            </a:r>
            <a:r>
              <a:rPr lang="en-US" sz="1300" b="0" i="0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Adithya Santhosh (</a:t>
            </a:r>
            <a:r>
              <a:rPr lang="en-US" sz="1300" dirty="0">
                <a:solidFill>
                  <a:schemeClr val="dk1"/>
                </a:solidFill>
              </a:rPr>
              <a:t>adithyasanthosh.p2024@vitstudent.ac.in</a:t>
            </a:r>
            <a:r>
              <a:rPr lang="en-US" sz="1300" b="0" i="0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2 - 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Eldo John Giby (eldo.johngiby2024@vitstudent.ac.in)</a:t>
            </a:r>
            <a:endParaRPr sz="1300" b="0" i="0" strike="noStrike" cap="none" dirty="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3 - 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 </a:t>
            </a:r>
            <a:r>
              <a:rPr lang="en-US" sz="1300" b="0" i="0" strike="noStrike" cap="none" dirty="0" err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Ramarathinam Iye</a:t>
            </a:r>
            <a:r>
              <a:rPr lang="en-US" sz="1300" dirty="0">
                <a:solidFill>
                  <a:srgbClr val="0F172A"/>
                </a:solidFill>
              </a:rPr>
              <a:t>r (ramarathinamiyer.vv2024@vitstudent.ac.in)</a:t>
            </a:r>
            <a:endParaRPr sz="1300" b="0" i="0" strike="noStrike" cap="none" dirty="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4 -</a:t>
            </a:r>
            <a:r>
              <a:rPr lang="en-US" sz="1300" dirty="0">
                <a:solidFill>
                  <a:srgbClr val="0F172A"/>
                </a:solidFill>
              </a:rPr>
              <a:t> Aryaman Tripathi (aryaman.tripathi2024@vitstudent.ac.in)</a:t>
            </a:r>
          </a:p>
          <a:p>
            <a:pPr lvl="0">
              <a:spcBef>
                <a:spcPts val="300"/>
              </a:spcBef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Submission GitHub link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https://github.com/AdithyaSanthosh-P/Janus/</a:t>
            </a:r>
            <a:endParaRPr dirty="0"/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25512" y="1024128"/>
            <a:ext cx="4572000" cy="457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6507E5-0A9E-D4B8-4E2B-6085B8D797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087" y="573686"/>
            <a:ext cx="4610423" cy="23798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b="1" dirty="0">
                <a:solidFill>
                  <a:srgbClr val="704EA6"/>
                </a:solidFill>
              </a:rPr>
              <a:t>Theme</a:t>
            </a:r>
            <a:endParaRPr dirty="0"/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689524" y="1396100"/>
            <a:ext cx="10932499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2400" b="1" dirty="0">
                <a:solidFill>
                  <a:srgbClr val="704EA6"/>
                </a:solidFill>
              </a:rPr>
              <a:t>The Challenge</a:t>
            </a:r>
            <a:r>
              <a:rPr lang="en-US" sz="2400" dirty="0"/>
              <a:t> 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US" sz="2000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2000" dirty="0"/>
              <a:t>Today's AI voice assistants operate in half-duplex mode — they </a:t>
            </a:r>
            <a:r>
              <a:rPr lang="en-US" sz="2000" dirty="0" err="1"/>
              <a:t>listen,think</a:t>
            </a:r>
            <a:r>
              <a:rPr lang="en-US" sz="2000" dirty="0"/>
              <a:t>, then speak. But real human conversation is never that clean. Users interrupt mid-sentence, revise parameters on the fly, and switch tasks entirely while tools are still executing. Existing systems freeze, fail, or hallucinate — none handle this gracefully.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US" sz="2000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US" sz="2000" b="1" dirty="0">
              <a:solidFill>
                <a:srgbClr val="704EA6"/>
              </a:solidFill>
            </a:endParaRP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2400" b="1" dirty="0">
                <a:solidFill>
                  <a:srgbClr val="704EA6"/>
                </a:solidFill>
              </a:rPr>
              <a:t>Theme</a:t>
            </a:r>
            <a:r>
              <a:rPr lang="en-US" sz="2400" dirty="0"/>
              <a:t>  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US" sz="2000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2000" dirty="0"/>
              <a:t> Build a full-duplex voice agent that remains continuously responsive: reasoning while listening, cancelling stale work atomically, and delivering accurate actions without ever confusing the user.</a:t>
            </a:r>
            <a:endParaRPr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>
          <a:extLst>
            <a:ext uri="{FF2B5EF4-FFF2-40B4-BE49-F238E27FC236}">
              <a16:creationId xmlns:a16="http://schemas.microsoft.com/office/drawing/2014/main" id="{5A031C64-41F0-1BA6-AD34-0D201E8D7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>
            <a:extLst>
              <a:ext uri="{FF2B5EF4-FFF2-40B4-BE49-F238E27FC236}">
                <a16:creationId xmlns:a16="http://schemas.microsoft.com/office/drawing/2014/main" id="{63D11AB6-995F-DBBF-8B09-104AA7596A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b="1" dirty="0">
                <a:solidFill>
                  <a:srgbClr val="704EA6"/>
                </a:solidFill>
              </a:rPr>
              <a:t>Existing Solutions &amp; Gaps</a:t>
            </a:r>
            <a:endParaRPr dirty="0"/>
          </a:p>
        </p:txBody>
      </p:sp>
      <p:sp>
        <p:nvSpPr>
          <p:cNvPr id="102" name="Google Shape;102;p2">
            <a:extLst>
              <a:ext uri="{FF2B5EF4-FFF2-40B4-BE49-F238E27FC236}">
                <a16:creationId xmlns:a16="http://schemas.microsoft.com/office/drawing/2014/main" id="{1C719D03-679F-D85C-E0D9-81D479DDC6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9524" y="1396099"/>
            <a:ext cx="11162952" cy="5236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indent="-50800">
              <a:spcBef>
                <a:spcPts val="0"/>
              </a:spcBef>
              <a:buSzPts val="2800"/>
              <a:buNone/>
            </a:pPr>
            <a:r>
              <a:rPr lang="en-US" sz="1900" b="1" dirty="0">
                <a:solidFill>
                  <a:srgbClr val="704EA6"/>
                </a:solidFill>
              </a:rPr>
              <a:t>What’s Out There Today</a:t>
            </a:r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US" sz="1900" b="1" dirty="0">
              <a:solidFill>
                <a:srgbClr val="704EA6"/>
              </a:solidFill>
            </a:endParaRPr>
          </a:p>
          <a:p>
            <a:pPr marL="228600" indent="-50800">
              <a:spcBef>
                <a:spcPts val="0"/>
              </a:spcBef>
              <a:buSzPts val="2800"/>
              <a:buNone/>
            </a:pPr>
            <a:r>
              <a:rPr lang="en-US" sz="1900" dirty="0"/>
              <a:t>The landscape of voice AI is dominated by half-duplex systems — agents that must finish listening before they can act, and must finish acting before they listen again</a:t>
            </a:r>
          </a:p>
          <a:p>
            <a:pPr marL="228600" indent="-50800">
              <a:spcBef>
                <a:spcPts val="0"/>
              </a:spcBef>
              <a:buSzPts val="2800"/>
              <a:buNone/>
            </a:pPr>
            <a:br>
              <a:rPr lang="en-US" sz="1900" dirty="0"/>
            </a:br>
            <a:r>
              <a:rPr lang="en-US" sz="1900" dirty="0"/>
              <a:t>Current Commercial Solutions &amp; Their Failures</a:t>
            </a:r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US" sz="1900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US" sz="1900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US" sz="1900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US" sz="1900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US" sz="1900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US" sz="1900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US" sz="1900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US" sz="1900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US" sz="1900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US" sz="1900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US" sz="1900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US" sz="1900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GB" sz="1900" b="1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GB" sz="1900" b="1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r>
              <a:rPr lang="en-GB" sz="1900" dirty="0"/>
              <a:t>The fundamental gap: no system safely handles continuous audio, in-flight actions, and evolving intent   concurrently—causing stale actions, wrong confirmations, and broken trust.</a:t>
            </a:r>
          </a:p>
          <a:p>
            <a:pPr marL="228600" indent="-50800">
              <a:spcBef>
                <a:spcPts val="0"/>
              </a:spcBef>
              <a:buSzPts val="2800"/>
              <a:buNone/>
            </a:pPr>
            <a:endParaRPr lang="en-US" sz="19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BC5C42-732A-3104-40D7-1FB1C60A73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341" y="2245498"/>
            <a:ext cx="9761317" cy="424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334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b="1" dirty="0">
                <a:solidFill>
                  <a:srgbClr val="704EA6"/>
                </a:solidFill>
              </a:rPr>
              <a:t>Our Solution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672E97-D78B-6955-C00D-A56F4151B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6483" y="1383732"/>
            <a:ext cx="10515600" cy="4584887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1700" b="1" dirty="0">
                <a:solidFill>
                  <a:srgbClr val="7030A0"/>
                </a:solidFill>
              </a:rPr>
              <a:t>Janus - A Single-Writer Coordination Kernel for Full-Duplex Voice</a:t>
            </a:r>
          </a:p>
          <a:p>
            <a:pPr marL="114300" indent="0">
              <a:buNone/>
            </a:pPr>
            <a:r>
              <a:rPr lang="en-US" sz="1700" dirty="0"/>
              <a:t>Janus solves the three-way concurrency problem with a deterministic 8-phase synchronous step engine (≤5ms) paired with isolated async workers. All state mutations happen inside a single-threaded kernel step, eliminating race conditions by design, not by luck.</a:t>
            </a:r>
          </a:p>
          <a:p>
            <a:pPr marL="114300" indent="0">
              <a:buNone/>
            </a:pPr>
            <a:r>
              <a:rPr lang="en-US" sz="1700" dirty="0"/>
              <a:t>Every event - whether a speech chunk, a tool result, or a user interruption, passes through the same deterministic pipeline:</a:t>
            </a:r>
          </a:p>
          <a:p>
            <a:pPr marL="114300" indent="0" algn="ctr">
              <a:buNone/>
            </a:pPr>
            <a:r>
              <a:rPr lang="en-GB" sz="1700" b="1" dirty="0">
                <a:solidFill>
                  <a:srgbClr val="7030A0"/>
                </a:solidFill>
              </a:rPr>
              <a:t>ORDER → APPLY → INVALIDATE → DECIDE → EMIT → COMMIT → DISPATCH → LOG</a:t>
            </a:r>
          </a:p>
          <a:p>
            <a:pPr marL="114300" indent="0" algn="ctr">
              <a:buNone/>
            </a:pPr>
            <a:endParaRPr lang="en-GB" sz="1700" b="1" dirty="0">
              <a:solidFill>
                <a:srgbClr val="7030A0"/>
              </a:solidFill>
            </a:endParaRPr>
          </a:p>
          <a:p>
            <a:pPr marL="114300" indent="0">
              <a:buNone/>
            </a:pPr>
            <a:r>
              <a:rPr lang="en-GB" sz="1700" b="1" dirty="0">
                <a:solidFill>
                  <a:srgbClr val="7030A0"/>
                </a:solidFill>
              </a:rPr>
              <a:t>What makes Janus unique ?</a:t>
            </a:r>
          </a:p>
          <a:p>
            <a:pPr marL="114300" indent="0">
              <a:buNone/>
            </a:pPr>
            <a:endParaRPr lang="en-GB" sz="1700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F7BED3-CB15-9C25-88B0-C1E1542DE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53" y="3676175"/>
            <a:ext cx="11553571" cy="37903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b="1" dirty="0">
                <a:solidFill>
                  <a:srgbClr val="704EA6"/>
                </a:solidFill>
              </a:rPr>
              <a:t>Architecture Diagram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F5DE69-EEAE-DFFE-D8B9-EF4E85448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" y="365125"/>
            <a:ext cx="12018264" cy="63922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b="1" dirty="0">
                <a:solidFill>
                  <a:srgbClr val="704EA6"/>
                </a:solidFill>
              </a:rPr>
              <a:t>Demo &amp; Product Walkthrough</a:t>
            </a:r>
            <a:endParaRPr dirty="0"/>
          </a:p>
        </p:txBody>
      </p:sp>
      <p:sp>
        <p:nvSpPr>
          <p:cNvPr id="130" name="Google Shape;130;p5"/>
          <p:cNvSpPr txBox="1">
            <a:spLocks noGrp="1"/>
          </p:cNvSpPr>
          <p:nvPr>
            <p:ph type="body" idx="1"/>
          </p:nvPr>
        </p:nvSpPr>
        <p:spPr>
          <a:xfrm>
            <a:off x="838200" y="1809100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af-ZA" dirty="0"/>
              <a:t>*Demo Video uploaded on Github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/>
          <p:cNvSpPr txBox="1">
            <a:spLocks noGrp="1"/>
          </p:cNvSpPr>
          <p:nvPr>
            <p:ph type="title"/>
          </p:nvPr>
        </p:nvSpPr>
        <p:spPr>
          <a:xfrm>
            <a:off x="706025" y="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2800" b="1" dirty="0">
                <a:solidFill>
                  <a:srgbClr val="704EA6"/>
                </a:solidFill>
              </a:rPr>
              <a:t>Tools and tech stack used </a:t>
            </a:r>
            <a:br>
              <a:rPr lang="en-US" sz="2800" b="1" dirty="0">
                <a:solidFill>
                  <a:srgbClr val="704EA6"/>
                </a:solidFill>
              </a:rPr>
            </a:br>
            <a:endParaRPr sz="2500" b="1" dirty="0">
              <a:solidFill>
                <a:srgbClr val="0F172A"/>
              </a:solidFill>
            </a:endParaRPr>
          </a:p>
        </p:txBody>
      </p:sp>
      <p:sp>
        <p:nvSpPr>
          <p:cNvPr id="136" name="Google Shape;136;p6"/>
          <p:cNvSpPr txBox="1">
            <a:spLocks noGrp="1"/>
          </p:cNvSpPr>
          <p:nvPr>
            <p:ph type="body" idx="1"/>
          </p:nvPr>
        </p:nvSpPr>
        <p:spPr>
          <a:xfrm>
            <a:off x="706025" y="789600"/>
            <a:ext cx="10515600" cy="5794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Core Kernel &amp; Coordination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Runtime &amp; Language: Python 3.11 (compatible with 3.10–3.12)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Data &amp; Schema Integrity: </a:t>
            </a:r>
            <a:r>
              <a:rPr lang="en-GB" sz="1200" dirty="0" err="1">
                <a:solidFill>
                  <a:schemeClr val="tx1"/>
                </a:solidFill>
              </a:rPr>
              <a:t>Pydantic</a:t>
            </a:r>
            <a:r>
              <a:rPr lang="en-GB" sz="1200" dirty="0">
                <a:solidFill>
                  <a:schemeClr val="tx1"/>
                </a:solidFill>
              </a:rPr>
              <a:t> v2.6+ (immutable state records, read-set validation), </a:t>
            </a:r>
            <a:r>
              <a:rPr lang="en-GB" sz="1200" dirty="0" err="1">
                <a:solidFill>
                  <a:schemeClr val="tx1"/>
                </a:solidFill>
              </a:rPr>
              <a:t>PyYAML</a:t>
            </a:r>
            <a:endParaRPr lang="en-GB" sz="1200" dirty="0">
              <a:solidFill>
                <a:schemeClr val="tx1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Coordination Engine: Custom Single-Writer Synchronous Kernel (7-phase deterministic step, ≤ 5ms execution)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Deterministic Clock: Stepped </a:t>
            </a:r>
            <a:r>
              <a:rPr lang="en-GB" sz="1200" dirty="0" err="1">
                <a:solidFill>
                  <a:schemeClr val="tx1"/>
                </a:solidFill>
              </a:rPr>
              <a:t>ClockPort</a:t>
            </a:r>
            <a:r>
              <a:rPr lang="en-GB" sz="1200" dirty="0">
                <a:solidFill>
                  <a:schemeClr val="tx1"/>
                </a:solidFill>
              </a:rPr>
              <a:t> (zero wall-clock dependencies; 100% byte-identical </a:t>
            </a:r>
            <a:r>
              <a:rPr lang="en-GB" sz="1200" dirty="0" err="1">
                <a:solidFill>
                  <a:schemeClr val="tx1"/>
                </a:solidFill>
              </a:rPr>
              <a:t>replayability</a:t>
            </a:r>
            <a:r>
              <a:rPr lang="en-GB" sz="1200" dirty="0">
                <a:solidFill>
                  <a:schemeClr val="tx1"/>
                </a:solidFill>
              </a:rPr>
              <a:t>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b="1" dirty="0">
                <a:solidFill>
                  <a:srgbClr val="7030A0"/>
                </a:solidFill>
              </a:rPr>
              <a:t>  </a:t>
            </a:r>
            <a:r>
              <a:rPr lang="en-GB" sz="1500" b="1" dirty="0">
                <a:solidFill>
                  <a:srgbClr val="7030A0"/>
                </a:solidFill>
              </a:rPr>
              <a:t>Real-Time Audio &amp; Vision Edge 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WebRTC &amp; Streaming: </a:t>
            </a:r>
            <a:r>
              <a:rPr lang="en-GB" sz="1200" dirty="0" err="1">
                <a:solidFill>
                  <a:schemeClr val="tx1"/>
                </a:solidFill>
              </a:rPr>
              <a:t>LiveKit</a:t>
            </a:r>
            <a:r>
              <a:rPr lang="en-GB" sz="1200" dirty="0">
                <a:solidFill>
                  <a:schemeClr val="tx1"/>
                </a:solidFill>
              </a:rPr>
              <a:t> Agents SDK v1.8.3 (</a:t>
            </a:r>
            <a:r>
              <a:rPr lang="en-GB" sz="1200" dirty="0" err="1">
                <a:solidFill>
                  <a:schemeClr val="tx1"/>
                </a:solidFill>
              </a:rPr>
              <a:t>livekit</a:t>
            </a:r>
            <a:r>
              <a:rPr lang="en-GB" sz="1200" dirty="0">
                <a:solidFill>
                  <a:schemeClr val="tx1"/>
                </a:solidFill>
              </a:rPr>
              <a:t>-agents)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Voice Activity Detection (VAD): </a:t>
            </a:r>
            <a:r>
              <a:rPr lang="en-GB" sz="1200" dirty="0" err="1">
                <a:solidFill>
                  <a:schemeClr val="tx1"/>
                </a:solidFill>
              </a:rPr>
              <a:t>Silero</a:t>
            </a:r>
            <a:r>
              <a:rPr lang="en-GB" sz="1200" dirty="0">
                <a:solidFill>
                  <a:schemeClr val="tx1"/>
                </a:solidFill>
              </a:rPr>
              <a:t> VAD v5 (sub-millisecond turn boundary &amp; barge-in detection)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Speech-to-Text (STT): faster-whisper v1.2.1 + CTranslate2 (OpenAI Whisper large-v3-turbo on CUDA)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Text-to-Speech (TTS): Kokoro-82M v0.9.4 + Misaki + spaCy (instant low-latency neural synthesis)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Vision Ingestion: WebRTC Video Sampler (1 fps JPEG extraction for multimodal grounding)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endParaRPr lang="en-GB" sz="1200" b="1" dirty="0">
              <a:solidFill>
                <a:srgbClr val="7030A0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Reasoning &amp; Foundation Models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Decision &amp; Worker LLMs: Google Gemini 3.6 Flash / 3.5 Flash (hosted API, temperature=0, thinking budget 0)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Async workers: Interpreter (intent), Planner / </a:t>
            </a:r>
            <a:r>
              <a:rPr lang="en-GB" sz="1200" dirty="0" err="1">
                <a:solidFill>
                  <a:schemeClr val="tx1"/>
                </a:solidFill>
              </a:rPr>
              <a:t>Rebinder</a:t>
            </a:r>
            <a:r>
              <a:rPr lang="en-GB" sz="1200" dirty="0">
                <a:solidFill>
                  <a:schemeClr val="tx1"/>
                </a:solidFill>
              </a:rPr>
              <a:t> (DAGs), Composer (grounded speech)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Visual Reasoning: Gemini Multimodal Vision Worker (</a:t>
            </a:r>
            <a:r>
              <a:rPr lang="en-GB" sz="1200" dirty="0" err="1">
                <a:solidFill>
                  <a:schemeClr val="tx1"/>
                </a:solidFill>
              </a:rPr>
              <a:t>MediaPart</a:t>
            </a:r>
            <a:r>
              <a:rPr lang="en-GB" sz="1200" dirty="0">
                <a:solidFill>
                  <a:schemeClr val="tx1"/>
                </a:solidFill>
              </a:rPr>
              <a:t> / </a:t>
            </a:r>
            <a:r>
              <a:rPr lang="en-GB" sz="1200" dirty="0" err="1">
                <a:solidFill>
                  <a:schemeClr val="tx1"/>
                </a:solidFill>
              </a:rPr>
              <a:t>blob_resolver</a:t>
            </a:r>
            <a:r>
              <a:rPr lang="en-GB" sz="1200" dirty="0">
                <a:solidFill>
                  <a:schemeClr val="tx1"/>
                </a:solidFill>
              </a:rPr>
              <a:t>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Domain Tools &amp; Extensions: FDB-v3 Domain APIs (Finance, Travel, E-Commerce, Housing) + Device Care Diagnostic Tools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endParaRPr lang="en-GB" sz="1200" dirty="0">
              <a:solidFill>
                <a:schemeClr val="tx1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Benchmark, Testing &amp; Infrastructure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Primary Benchmark: Full-Duplex-Bench v3 (FDB-v3) + NVIDIA Parakeet-TDT 0.6B (</a:t>
            </a:r>
            <a:r>
              <a:rPr lang="en-GB" sz="1200" dirty="0" err="1">
                <a:solidFill>
                  <a:schemeClr val="tx1"/>
                </a:solidFill>
              </a:rPr>
              <a:t>NeMo</a:t>
            </a:r>
            <a:r>
              <a:rPr lang="en-GB" sz="1200" dirty="0">
                <a:solidFill>
                  <a:schemeClr val="tx1"/>
                </a:solidFill>
              </a:rPr>
              <a:t> ASR scorer)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Evaluation Judge: OpenAI GPT-4o (semantic argument &amp; response quality evaluation)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Verification &amp; Testing: </a:t>
            </a:r>
            <a:r>
              <a:rPr lang="en-GB" sz="1200" dirty="0" err="1">
                <a:solidFill>
                  <a:schemeClr val="tx1"/>
                </a:solidFill>
              </a:rPr>
              <a:t>pytest</a:t>
            </a:r>
            <a:r>
              <a:rPr lang="en-GB" sz="1200" dirty="0">
                <a:solidFill>
                  <a:schemeClr val="tx1"/>
                </a:solidFill>
              </a:rPr>
              <a:t> (462 deterministic tests) + </a:t>
            </a:r>
            <a:r>
              <a:rPr lang="en-GB" sz="1200" dirty="0" err="1">
                <a:solidFill>
                  <a:schemeClr val="tx1"/>
                </a:solidFill>
              </a:rPr>
              <a:t>TraceChecker</a:t>
            </a:r>
            <a:r>
              <a:rPr lang="en-GB" sz="1200" dirty="0">
                <a:solidFill>
                  <a:schemeClr val="tx1"/>
                </a:solidFill>
              </a:rPr>
              <a:t> (commit gate &amp; floor rule audits)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Deployment &amp; Containerization: Docker (</a:t>
            </a:r>
            <a:r>
              <a:rPr lang="en-GB" sz="1200" dirty="0" err="1">
                <a:solidFill>
                  <a:schemeClr val="tx1"/>
                </a:solidFill>
              </a:rPr>
              <a:t>nvidia</a:t>
            </a:r>
            <a:r>
              <a:rPr lang="en-GB" sz="1200" dirty="0">
                <a:solidFill>
                  <a:schemeClr val="tx1"/>
                </a:solidFill>
              </a:rPr>
              <a:t>/cuda:12.4.1, PyTorch v2.14 / CUDA 12.6) + ./reproduce.sh (one-command SHA-256 verified build &amp; run)</a:t>
            </a:r>
            <a:endParaRPr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76EC0BCE-9B5C-F011-3911-F7BA684F2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>
            <a:extLst>
              <a:ext uri="{FF2B5EF4-FFF2-40B4-BE49-F238E27FC236}">
                <a16:creationId xmlns:a16="http://schemas.microsoft.com/office/drawing/2014/main" id="{3B6CED97-A3E3-8FD6-0061-ABD6EC311E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b="1" dirty="0">
                <a:solidFill>
                  <a:srgbClr val="704EA6"/>
                </a:solidFill>
              </a:rPr>
              <a:t>Impact &amp; Samsung Ecosystem Use cases</a:t>
            </a:r>
            <a:endParaRPr b="1" dirty="0">
              <a:solidFill>
                <a:srgbClr val="0F172A"/>
              </a:solidFill>
            </a:endParaRPr>
          </a:p>
        </p:txBody>
      </p:sp>
      <p:sp>
        <p:nvSpPr>
          <p:cNvPr id="136" name="Google Shape;136;p6">
            <a:extLst>
              <a:ext uri="{FF2B5EF4-FFF2-40B4-BE49-F238E27FC236}">
                <a16:creationId xmlns:a16="http://schemas.microsoft.com/office/drawing/2014/main" id="{16CE04E1-4DAC-CB83-8E0F-9732EA2469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6025" y="1472183"/>
            <a:ext cx="10515600" cy="5059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600" b="1" dirty="0">
                <a:solidFill>
                  <a:srgbClr val="7030A0"/>
                </a:solidFill>
              </a:rPr>
              <a:t>Use-Case Extension: Smart Device Care  (What we have done)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endParaRPr lang="en-GB" sz="1400" dirty="0">
              <a:solidFill>
                <a:srgbClr val="334155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400" dirty="0">
                <a:solidFill>
                  <a:srgbClr val="334155"/>
                </a:solidFill>
              </a:rPr>
              <a:t>  • Point-and-Ask Diagnostics: User points a phone camera at an appliance (blinking router LED, washer error code) and speaks naturally without technical jargon.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400" dirty="0">
                <a:solidFill>
                  <a:srgbClr val="334155"/>
                </a:solidFill>
              </a:rPr>
              <a:t>  • Camera-Grounded Reasoning: Vision worker extracts visual telemetry from video frames to look up diagnostic fixes in real time.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400" dirty="0">
                <a:solidFill>
                  <a:srgbClr val="334155"/>
                </a:solidFill>
              </a:rPr>
              <a:t>  • Interruption-Safe Action: Mid-utterance date changes ("Book Thursday morning... actually make it Friday") guarantee exactly one technician visit via </a:t>
            </a:r>
            <a:r>
              <a:rPr lang="en-GB" sz="1400" dirty="0" err="1">
                <a:solidFill>
                  <a:srgbClr val="334155"/>
                </a:solidFill>
              </a:rPr>
              <a:t>CommitGate</a:t>
            </a:r>
            <a:r>
              <a:rPr lang="en-GB" sz="1400" dirty="0">
                <a:solidFill>
                  <a:srgbClr val="334155"/>
                </a:solidFill>
              </a:rPr>
              <a:t>.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endParaRPr lang="en-GB" sz="1400" dirty="0">
              <a:solidFill>
                <a:srgbClr val="334155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endParaRPr lang="en-GB" sz="1400" dirty="0">
              <a:solidFill>
                <a:srgbClr val="334155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600" b="1" dirty="0">
                <a:solidFill>
                  <a:srgbClr val="7030A0"/>
                </a:solidFill>
              </a:rPr>
              <a:t>Integration on Samsung Devices (Language AI)  (Integrations we wish to do in the future)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endParaRPr lang="en-GB" sz="1400" dirty="0">
              <a:solidFill>
                <a:srgbClr val="334155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400" dirty="0">
                <a:solidFill>
                  <a:srgbClr val="334155"/>
                </a:solidFill>
              </a:rPr>
              <a:t>  • Galaxy AI &amp; Bixby: Direct integration into the Galaxy Camera viewfinder for hands-free, real-time visual troubleshooting.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400" dirty="0">
                <a:solidFill>
                  <a:srgbClr val="334155"/>
                </a:solidFill>
              </a:rPr>
              <a:t>  • SmartThings Ecosystem: Correlates live camera feeds with IoT diagnostics across Bespoke Refrigerators, Washers, ACs, and Smart TVs.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400" dirty="0">
                <a:solidFill>
                  <a:srgbClr val="334155"/>
                </a:solidFill>
              </a:rPr>
              <a:t>  • Samsung Care+ Automation: Safe, automated service booking and ticket dispatch backend with mathematical idempotency.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400" dirty="0">
                <a:solidFill>
                  <a:srgbClr val="334155"/>
                </a:solidFill>
              </a:rPr>
              <a:t>  • On-Device NPU Ready: Lightweight kernel and local audio stack can run on Samsung </a:t>
            </a:r>
            <a:r>
              <a:rPr lang="en-GB" sz="1400" dirty="0" err="1">
                <a:solidFill>
                  <a:srgbClr val="334155"/>
                </a:solidFill>
              </a:rPr>
              <a:t>Exynos</a:t>
            </a:r>
            <a:r>
              <a:rPr lang="en-GB" sz="1400" dirty="0">
                <a:solidFill>
                  <a:srgbClr val="334155"/>
                </a:solidFill>
              </a:rPr>
              <a:t> / Snapdragon NPU alongside Samsung Gauss models.</a:t>
            </a:r>
          </a:p>
        </p:txBody>
      </p:sp>
    </p:spTree>
    <p:extLst>
      <p:ext uri="{BB962C8B-B14F-4D97-AF65-F5344CB8AC3E}">
        <p14:creationId xmlns:p14="http://schemas.microsoft.com/office/powerpoint/2010/main" val="3975544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8"/>
          <p:cNvSpPr txBox="1">
            <a:spLocks noGrp="1"/>
          </p:cNvSpPr>
          <p:nvPr>
            <p:ph type="title"/>
          </p:nvPr>
        </p:nvSpPr>
        <p:spPr>
          <a:xfrm>
            <a:off x="493785" y="342879"/>
            <a:ext cx="105156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b="1" dirty="0">
                <a:solidFill>
                  <a:srgbClr val="704EA6"/>
                </a:solidFill>
              </a:rPr>
              <a:t>Innovation highlights, results and limitations</a:t>
            </a:r>
            <a:endParaRPr dirty="0"/>
          </a:p>
        </p:txBody>
      </p:sp>
      <p:sp>
        <p:nvSpPr>
          <p:cNvPr id="142" name="Google Shape;142;p8"/>
          <p:cNvSpPr txBox="1">
            <a:spLocks noGrp="1"/>
          </p:cNvSpPr>
          <p:nvPr>
            <p:ph type="body" idx="1"/>
          </p:nvPr>
        </p:nvSpPr>
        <p:spPr>
          <a:xfrm>
            <a:off x="493785" y="1547829"/>
            <a:ext cx="11918700" cy="4536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/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2400" b="1" dirty="0">
                <a:solidFill>
                  <a:srgbClr val="7030A0"/>
                </a:solidFill>
              </a:rPr>
              <a:t>Key Innovation Highlights</a:t>
            </a:r>
          </a:p>
          <a:p>
            <a:pPr lvl="0" indent="-364757">
              <a:spcBef>
                <a:spcPts val="600"/>
              </a:spcBef>
              <a:buSzPct val="119507"/>
            </a:pPr>
            <a:endParaRPr lang="en-GB" sz="1872" dirty="0">
              <a:solidFill>
                <a:srgbClr val="334155"/>
              </a:solidFill>
            </a:endParaRPr>
          </a:p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1872" dirty="0">
                <a:solidFill>
                  <a:srgbClr val="334155"/>
                </a:solidFill>
              </a:rPr>
              <a:t>• Single-Writer Safety Kernel (≤ 5ms): LLMs only return proposals—a deterministic synchronous kernel arbitrates all state mutations and tool emissions.</a:t>
            </a:r>
          </a:p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1872" dirty="0">
                <a:solidFill>
                  <a:srgbClr val="334155"/>
                </a:solidFill>
              </a:rPr>
              <a:t>• Optimistic Concurrency &amp; Read Sets (key, </a:t>
            </a:r>
            <a:r>
              <a:rPr lang="en-GB" sz="1872" dirty="0" err="1">
                <a:solidFill>
                  <a:srgbClr val="334155"/>
                </a:solidFill>
              </a:rPr>
              <a:t>ver</a:t>
            </a:r>
            <a:r>
              <a:rPr lang="en-GB" sz="1872" dirty="0">
                <a:solidFill>
                  <a:srgbClr val="334155"/>
                </a:solidFill>
              </a:rPr>
              <a:t>, digest): Instantly retracts superseded tool calls and pending speech in the same step an interruption is detected.</a:t>
            </a:r>
          </a:p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1872" dirty="0">
                <a:solidFill>
                  <a:srgbClr val="334155"/>
                </a:solidFill>
              </a:rPr>
              <a:t>• </a:t>
            </a:r>
            <a:r>
              <a:rPr lang="en-GB" sz="1872" dirty="0" err="1">
                <a:solidFill>
                  <a:srgbClr val="334155"/>
                </a:solidFill>
              </a:rPr>
              <a:t>CommitGate</a:t>
            </a:r>
            <a:r>
              <a:rPr lang="en-GB" sz="1872" dirty="0">
                <a:solidFill>
                  <a:srgbClr val="334155"/>
                </a:solidFill>
              </a:rPr>
              <a:t> (G1–G11) &amp; 300ms Settle Barrier: Separates speculative reads from irreversible writes—guaranteeing zero double-bookings or phantom completions.</a:t>
            </a:r>
          </a:p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1872" dirty="0">
                <a:solidFill>
                  <a:srgbClr val="334155"/>
                </a:solidFill>
              </a:rPr>
              <a:t>• Speculative Interpretation &amp; Floor Rule: Pre-interprets speech prefixes while user speaks to achieve 0ms post-turn latency without interrupting human speech.</a:t>
            </a:r>
          </a:p>
          <a:p>
            <a:pPr marL="92443" lvl="0" indent="0">
              <a:spcBef>
                <a:spcPts val="600"/>
              </a:spcBef>
              <a:buSzPct val="119507"/>
              <a:buNone/>
            </a:pPr>
            <a:endParaRPr lang="en-GB" sz="1872" dirty="0">
              <a:solidFill>
                <a:srgbClr val="334155"/>
              </a:solidFill>
            </a:endParaRPr>
          </a:p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2400" b="1" dirty="0">
                <a:solidFill>
                  <a:srgbClr val="7030A0"/>
                </a:solidFill>
              </a:rPr>
              <a:t>Benchmark Results (Full-Duplex-Bench v3)</a:t>
            </a:r>
          </a:p>
          <a:p>
            <a:pPr marL="92443" lvl="0" indent="0">
              <a:spcBef>
                <a:spcPts val="600"/>
              </a:spcBef>
              <a:buSzPct val="119507"/>
              <a:buNone/>
            </a:pPr>
            <a:endParaRPr lang="en-GB" sz="1872" dirty="0">
              <a:solidFill>
                <a:srgbClr val="334155"/>
              </a:solidFill>
            </a:endParaRPr>
          </a:p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1872" dirty="0">
                <a:solidFill>
                  <a:srgbClr val="334155"/>
                </a:solidFill>
              </a:rPr>
              <a:t>• State-of-the-Art Core Accuracy: 77.0% Strict Pass Rate (Pass@1) on FDB-v3 (all 100 benchmark scenarios), outperforming published baselines:</a:t>
            </a:r>
          </a:p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1872" dirty="0">
                <a:solidFill>
                  <a:srgbClr val="334155"/>
                </a:solidFill>
              </a:rPr>
              <a:t>• Janus (77.0%) vs. GPT-Realtime (60.0%) vs. Gemini Live 3.1 (54.0%) vs. Cascaded Pipeline (45.0%).</a:t>
            </a:r>
          </a:p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1872" dirty="0">
                <a:solidFill>
                  <a:srgbClr val="334155"/>
                </a:solidFill>
              </a:rPr>
              <a:t>• High-Precision Metrics: 0.959 Tool Selection F1 | 0.807 Argument Accuracy | 0.840 Response </a:t>
            </a:r>
            <a:r>
              <a:rPr lang="en-GB" sz="1872" dirty="0" err="1">
                <a:solidFill>
                  <a:srgbClr val="334155"/>
                </a:solidFill>
              </a:rPr>
              <a:t>Quality.Domain</a:t>
            </a:r>
            <a:r>
              <a:rPr lang="en-GB" sz="1872" dirty="0">
                <a:solidFill>
                  <a:srgbClr val="334155"/>
                </a:solidFill>
              </a:rPr>
              <a:t> Strengths: 100% on Finance, 95% on Travel, 83% on E-Commerce.</a:t>
            </a:r>
          </a:p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1872" dirty="0">
                <a:solidFill>
                  <a:srgbClr val="334155"/>
                </a:solidFill>
              </a:rPr>
              <a:t>• Rock-Solid Verification: 462 deterministic test cases passing with 100% byte-identical replay identity and </a:t>
            </a:r>
            <a:r>
              <a:rPr lang="en-GB" sz="1872" dirty="0" err="1">
                <a:solidFill>
                  <a:srgbClr val="334155"/>
                </a:solidFill>
              </a:rPr>
              <a:t>TraceChecker</a:t>
            </a:r>
            <a:r>
              <a:rPr lang="en-GB" sz="1872" dirty="0">
                <a:solidFill>
                  <a:srgbClr val="334155"/>
                </a:solidFill>
              </a:rPr>
              <a:t> invariant audits.</a:t>
            </a:r>
          </a:p>
          <a:p>
            <a:pPr marL="92443" lvl="0" indent="0">
              <a:spcBef>
                <a:spcPts val="600"/>
              </a:spcBef>
              <a:buSzPct val="119507"/>
              <a:buNone/>
            </a:pPr>
            <a:endParaRPr lang="en-GB" sz="1872" dirty="0">
              <a:solidFill>
                <a:srgbClr val="334155"/>
              </a:solidFill>
            </a:endParaRPr>
          </a:p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2400" b="1" dirty="0">
                <a:solidFill>
                  <a:srgbClr val="7030A0"/>
                </a:solidFill>
              </a:rPr>
              <a:t>Limitations &amp; Future Work</a:t>
            </a:r>
          </a:p>
          <a:p>
            <a:pPr lvl="0" indent="-364757">
              <a:spcBef>
                <a:spcPts val="600"/>
              </a:spcBef>
              <a:buSzPct val="119507"/>
            </a:pPr>
            <a:endParaRPr lang="en-GB" sz="1872" dirty="0">
              <a:solidFill>
                <a:srgbClr val="334155"/>
              </a:solidFill>
            </a:endParaRPr>
          </a:p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1872" dirty="0">
                <a:solidFill>
                  <a:srgbClr val="334155"/>
                </a:solidFill>
              </a:rPr>
              <a:t>• Hosted LLM Dependency: Cloud-hosted Gemini API introduces network latency and minor stochastic variance compared to pure local execution.</a:t>
            </a:r>
          </a:p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1872" dirty="0">
                <a:solidFill>
                  <a:srgbClr val="334155"/>
                </a:solidFill>
              </a:rPr>
              <a:t>• Complex Multi-Constraint Queries (Housing 35%): Long, constraint-heavy slot combinations remain the most challenging domain across all voice agents.</a:t>
            </a:r>
          </a:p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1872" dirty="0">
                <a:solidFill>
                  <a:srgbClr val="334155"/>
                </a:solidFill>
              </a:rPr>
              <a:t>• Camera Frame Rate: Video sampler operates at ~1 fps (still frames); cannot autonomously differentiate high-frequency LED blinking without user audio cues.</a:t>
            </a:r>
          </a:p>
          <a:p>
            <a:pPr marL="92443" lvl="0" indent="0">
              <a:spcBef>
                <a:spcPts val="600"/>
              </a:spcBef>
              <a:buSzPct val="119507"/>
              <a:buNone/>
            </a:pPr>
            <a:r>
              <a:rPr lang="en-GB" sz="1872" dirty="0">
                <a:solidFill>
                  <a:srgbClr val="334155"/>
                </a:solidFill>
              </a:rPr>
              <a:t>• Proactive Confirmation Prompts: Write actions require explicit user go-ahead but currently rely on stall-salvage rather than proactive clarification prompts.</a:t>
            </a:r>
          </a:p>
          <a:p>
            <a:pPr marL="92443" lvl="0" indent="0">
              <a:spcBef>
                <a:spcPts val="600"/>
              </a:spcBef>
              <a:buSzPct val="119507"/>
              <a:buNone/>
            </a:pPr>
            <a:endParaRPr lang="en-GB" sz="1872" dirty="0">
              <a:solidFill>
                <a:srgbClr val="334155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9"/>
          <p:cNvSpPr txBox="1">
            <a:spLocks noGrp="1"/>
          </p:cNvSpPr>
          <p:nvPr>
            <p:ph type="title"/>
          </p:nvPr>
        </p:nvSpPr>
        <p:spPr>
          <a:xfrm>
            <a:off x="838200" y="9080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b="1" dirty="0">
                <a:solidFill>
                  <a:srgbClr val="704EA6"/>
                </a:solidFill>
              </a:rPr>
              <a:t>What’s next</a:t>
            </a:r>
            <a:endParaRPr dirty="0"/>
          </a:p>
        </p:txBody>
      </p:sp>
      <p:sp>
        <p:nvSpPr>
          <p:cNvPr id="148" name="Google Shape;148;p9"/>
          <p:cNvSpPr txBox="1">
            <a:spLocks noGrp="1"/>
          </p:cNvSpPr>
          <p:nvPr>
            <p:ph type="body" idx="1"/>
          </p:nvPr>
        </p:nvSpPr>
        <p:spPr>
          <a:xfrm>
            <a:off x="774192" y="1262474"/>
            <a:ext cx="11295888" cy="5376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GB" sz="1600" b="1" dirty="0">
                <a:solidFill>
                  <a:srgbClr val="7030A0"/>
                </a:solidFill>
              </a:rPr>
              <a:t> • Streaming ASR &amp; Entity Recognition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GB" sz="1600" dirty="0"/>
              <a:t>  Upgrade from chunked Whisper to streaming NVIDIA Parakeet-TDT ASR to eliminate misheard proper nouns (cities, model numbers) and reduce speech ingestion latency.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GB" sz="1600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GB" sz="1600" b="1" dirty="0">
                <a:solidFill>
                  <a:srgbClr val="7030A0"/>
                </a:solidFill>
              </a:rPr>
              <a:t>  • Proactive Dialogue &amp; Multi-Slot Reasoning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GB" sz="1600" dirty="0"/>
              <a:t>  Move from passive settle-time barriers to autonomous clarification dialogues ("I found two options, shall I book the 6 PM one?") and enhance complex multi-constraint handling (Housing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GB" sz="1600" dirty="0"/>
              <a:t>  domain).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GB" sz="1600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GB" sz="1600" b="1" dirty="0">
                <a:solidFill>
                  <a:srgbClr val="7030A0"/>
                </a:solidFill>
              </a:rPr>
              <a:t>  • Temporal Video Diagnostics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GB" sz="1600" dirty="0"/>
              <a:t>  Upgrade from 1 fps still-frame sampling to temporal multi-frame analysis to autonomously detect high-frequency blinking LED patterns and dynamic appliance states.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GB" sz="1600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GB" sz="1600" dirty="0"/>
              <a:t>  </a:t>
            </a:r>
            <a:r>
              <a:rPr lang="en-GB" sz="1600" b="1" dirty="0">
                <a:solidFill>
                  <a:srgbClr val="7030A0"/>
                </a:solidFill>
              </a:rPr>
              <a:t>• On-Device NPU Porting (Galaxy AI)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GB" sz="1600" dirty="0"/>
              <a:t>  Port the lightweight synchronous kernel and local speech stack directly to Samsung </a:t>
            </a:r>
            <a:r>
              <a:rPr lang="en-GB" sz="1600" dirty="0" err="1"/>
              <a:t>Exynos</a:t>
            </a:r>
            <a:r>
              <a:rPr lang="en-GB" sz="1600" dirty="0"/>
              <a:t> / Snapdragon NPUs for offline, ultra-low-latency on-device execution.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GB" sz="1600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GB" sz="1600" b="1" dirty="0">
                <a:solidFill>
                  <a:srgbClr val="7030A0"/>
                </a:solidFill>
              </a:rPr>
              <a:t>  • Production Samsung Ecosystem Bridge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GB" sz="1600" dirty="0"/>
              <a:t>      • Samsung Gauss / Bixby: Plug in Samsung Gauss as the primary reasoning engine via the existing </a:t>
            </a:r>
            <a:r>
              <a:rPr lang="en-GB" sz="1600" dirty="0" err="1"/>
              <a:t>ModelGateway</a:t>
            </a:r>
            <a:r>
              <a:rPr lang="en-GB" sz="1600" dirty="0"/>
              <a:t>.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GB" sz="1600" dirty="0"/>
              <a:t>      • SmartThings &amp; Samsung Care+: Direct API integration for live Bespoke appliance telemetry, real-time error-code lookup, and automated field-technician dispatch.</a:t>
            </a:r>
            <a:endParaRPr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>
          <a:extLst>
            <a:ext uri="{FF2B5EF4-FFF2-40B4-BE49-F238E27FC236}">
              <a16:creationId xmlns:a16="http://schemas.microsoft.com/office/drawing/2014/main" id="{078F647C-A323-3203-26A1-F9D880232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9">
            <a:extLst>
              <a:ext uri="{FF2B5EF4-FFF2-40B4-BE49-F238E27FC236}">
                <a16:creationId xmlns:a16="http://schemas.microsoft.com/office/drawing/2014/main" id="{BFA19698-BB5F-81A6-00CA-070C94F5C4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b="1" dirty="0">
                <a:solidFill>
                  <a:srgbClr val="704EA6"/>
                </a:solidFill>
              </a:rPr>
              <a:t>Brownie points slide( differentiation)</a:t>
            </a:r>
            <a:endParaRPr dirty="0"/>
          </a:p>
        </p:txBody>
      </p:sp>
      <p:sp>
        <p:nvSpPr>
          <p:cNvPr id="148" name="Google Shape;148;p9">
            <a:extLst>
              <a:ext uri="{FF2B5EF4-FFF2-40B4-BE49-F238E27FC236}">
                <a16:creationId xmlns:a16="http://schemas.microsoft.com/office/drawing/2014/main" id="{4BF5CA71-B7B5-7019-D11A-D2BF8B744C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770761"/>
            <a:ext cx="1123188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1600" b="1" dirty="0">
                <a:solidFill>
                  <a:srgbClr val="7030A0"/>
                </a:solidFill>
              </a:rPr>
              <a:t> • Single-Writer Safety Kernel (≤ 5ms)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1600" dirty="0"/>
              <a:t>  	Models only propose; a synchronous core decides. Eliminates double-bookings and phantom "done" claims.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US" sz="1600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1600" dirty="0"/>
              <a:t>  </a:t>
            </a:r>
            <a:r>
              <a:rPr lang="en-US" sz="1600" b="1" dirty="0">
                <a:solidFill>
                  <a:srgbClr val="7030A0"/>
                </a:solidFill>
              </a:rPr>
              <a:t>• Same-Step Cancellation &amp; Read Sets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1600" dirty="0"/>
              <a:t>  	Uses fine-grained (fact, version, digest) tracking to cancel superseded tool calls the instant a user interrupts.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US" sz="1600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1600" b="1" dirty="0">
                <a:solidFill>
                  <a:srgbClr val="7030A0"/>
                </a:solidFill>
              </a:rPr>
              <a:t>  • </a:t>
            </a:r>
            <a:r>
              <a:rPr lang="en-US" sz="1600" b="1" dirty="0" err="1">
                <a:solidFill>
                  <a:srgbClr val="7030A0"/>
                </a:solidFill>
              </a:rPr>
              <a:t>CommitGate</a:t>
            </a:r>
            <a:r>
              <a:rPr lang="en-US" sz="1600" b="1" dirty="0">
                <a:solidFill>
                  <a:srgbClr val="7030A0"/>
                </a:solidFill>
              </a:rPr>
              <a:t> &amp; 300ms Settle Barrier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1600" dirty="0"/>
              <a:t>  	Separates speculative reads from irreversible writes via 11 strict safety gates to ensure strictly exactly-once execution.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US" sz="1600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1600" dirty="0">
                <a:solidFill>
                  <a:srgbClr val="7030A0"/>
                </a:solidFill>
              </a:rPr>
              <a:t>  • </a:t>
            </a:r>
            <a:r>
              <a:rPr lang="en-US" sz="1600" b="1" dirty="0">
                <a:solidFill>
                  <a:srgbClr val="7030A0"/>
                </a:solidFill>
              </a:rPr>
              <a:t>Speculative Interpretation (0ms Turn Latency)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1600" dirty="0"/>
              <a:t>  	Pre-processes speech intent while the user is still speaking, delivering instant grounded answers at 	End-of-Turn.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US" sz="1600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1600" dirty="0"/>
              <a:t>  </a:t>
            </a:r>
            <a:r>
              <a:rPr lang="en-US" sz="1600" b="1" dirty="0">
                <a:solidFill>
                  <a:srgbClr val="7030A0"/>
                </a:solidFill>
              </a:rPr>
              <a:t>• 100% Deterministic Replay &amp; Formal Auditing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1600" dirty="0"/>
              <a:t>  	Stepped virtual clock enables byte-identical session replays, backed by automated </a:t>
            </a:r>
            <a:r>
              <a:rPr lang="en-US" sz="1600" dirty="0" err="1"/>
              <a:t>TraceChecker</a:t>
            </a:r>
            <a:r>
              <a:rPr lang="en-US" sz="1600" dirty="0"/>
              <a:t> invariant verification.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endParaRPr lang="en-US" sz="1600" b="1" dirty="0"/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1600" b="1" dirty="0"/>
              <a:t>  • </a:t>
            </a:r>
            <a:r>
              <a:rPr lang="en-US" sz="1600" b="1" dirty="0">
                <a:solidFill>
                  <a:srgbClr val="7030A0"/>
                </a:solidFill>
              </a:rPr>
              <a:t>Camera-Grounded Multimodal Safety</a:t>
            </a:r>
          </a:p>
          <a:p>
            <a:pPr marL="228600" lvl="0" indent="-50800">
              <a:spcBef>
                <a:spcPts val="0"/>
              </a:spcBef>
              <a:buSzPts val="2800"/>
              <a:buNone/>
            </a:pPr>
            <a:r>
              <a:rPr lang="en-US" sz="1600" dirty="0"/>
              <a:t>  	Combines real-time 1 fps video sampling with voice for hands-free, interruption-safe hardware troubleshooting.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3797065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1635</Words>
  <Application>Microsoft Office PowerPoint</Application>
  <PresentationFormat>Widescreen</PresentationFormat>
  <Paragraphs>147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Theme</vt:lpstr>
      <vt:lpstr>Existing Solutions &amp; Gaps</vt:lpstr>
      <vt:lpstr>Our Solution</vt:lpstr>
      <vt:lpstr>Architecture Diagram</vt:lpstr>
      <vt:lpstr>Demo &amp; Product Walkthrough</vt:lpstr>
      <vt:lpstr>Tools and tech stack used  </vt:lpstr>
      <vt:lpstr>Impact &amp; Samsung Ecosystem Use cases</vt:lpstr>
      <vt:lpstr>Innovation highlights, results and limitations</vt:lpstr>
      <vt:lpstr>What’s next</vt:lpstr>
      <vt:lpstr>Brownie points slide( differentiation)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Eldo John Giby</cp:lastModifiedBy>
  <cp:revision>5</cp:revision>
  <dcterms:created xsi:type="dcterms:W3CDTF">2026-09-07T12:01:01Z</dcterms:created>
  <dcterms:modified xsi:type="dcterms:W3CDTF">2026-09-30T17:20:43Z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