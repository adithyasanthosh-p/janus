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5" r:id="rId6"/>
    <p:sldId id="262" r:id="rId7"/>
    <p:sldId id="261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ipH3oEiM1vp1BxuWc7vWLulCCA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>
        <p:scale>
          <a:sx n="75" d="100"/>
          <a:sy n="75" d="100"/>
        </p:scale>
        <p:origin x="43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6D68F0DA-994B-0A36-1825-02B7EE198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>
            <a:extLst>
              <a:ext uri="{FF2B5EF4-FFF2-40B4-BE49-F238E27FC236}">
                <a16:creationId xmlns:a16="http://schemas.microsoft.com/office/drawing/2014/main" id="{BCAA8279-405F-A85E-B8DE-AF8B35461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6:notes">
            <a:extLst>
              <a:ext uri="{FF2B5EF4-FFF2-40B4-BE49-F238E27FC236}">
                <a16:creationId xmlns:a16="http://schemas.microsoft.com/office/drawing/2014/main" id="{8C5D7C30-C494-4439-A402-E16421727D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2674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Improvement since the full voice run (hardest recordings only): rerun of the 32 hardest recordings after the speech-to-text GPU fix: 11/32 exact match (was 8/32), turn-taking 32/32 (was 72%). Current code with hosted speech-to-text on the recordings the full run failed: 13/31 judged (same recordings: 4/30 in the full run). Turn-taking in that run: 64/64 (100%).</a:t>
            </a:r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ithyaSanthosh-P/Janu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/>
        </p:nvSpPr>
        <p:spPr>
          <a:xfrm>
            <a:off x="777240" y="3000000"/>
            <a:ext cx="7598664" cy="318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None/>
            </a:pP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Theme ID - </a:t>
            </a:r>
            <a:r>
              <a:rPr lang="en-US" sz="1300" b="1" i="0" strike="noStrike" cap="none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Theme 05: Interruptible Real-Time Agents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Project Name </a:t>
            </a:r>
            <a:r>
              <a:rPr lang="en-US" sz="1300" b="1" dirty="0">
                <a:solidFill>
                  <a:srgbClr val="0F172A"/>
                </a:solidFill>
              </a:rPr>
              <a:t>-</a:t>
            </a: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strike="noStrike" cap="none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Janus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Team Name - </a:t>
            </a:r>
            <a:r>
              <a:rPr lang="en-US" sz="1300" b="1" i="0" strike="noStrike" cap="none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AICA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College Name </a:t>
            </a:r>
            <a:r>
              <a:rPr lang="en-US" sz="1300" b="1" dirty="0">
                <a:solidFill>
                  <a:srgbClr val="0F172A"/>
                </a:solidFill>
              </a:rPr>
              <a:t>-</a:t>
            </a: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dirty="0">
                <a:solidFill>
                  <a:srgbClr val="334155"/>
                </a:solidFill>
              </a:rPr>
              <a:t>Vellore Institute Of Technology, Vellore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dirty="0"/>
          </a:p>
          <a:p>
            <a:pPr lvl="0">
              <a:spcBef>
                <a:spcPts val="300"/>
              </a:spcBef>
            </a:pPr>
            <a:r>
              <a:rPr lang="en-US" sz="1300" b="0" i="0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Adithya Santhosh P </a:t>
            </a:r>
            <a:r>
              <a:rPr lang="en-US" sz="1300" b="0" i="1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300" i="1" dirty="0">
                <a:solidFill>
                  <a:schemeClr val="dk1"/>
                </a:solidFill>
              </a:rPr>
              <a:t>adithyasanthosh.p2024@vitstudent.ac.in</a:t>
            </a:r>
            <a:r>
              <a:rPr lang="en-US" sz="1300" b="0" i="1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i="1" dirty="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0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Eldo John </a:t>
            </a:r>
            <a:r>
              <a:rPr lang="en-US" sz="1300" b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Giby </a:t>
            </a:r>
            <a:r>
              <a:rPr lang="en-US" sz="1300" b="0" i="1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(eldo.johngiby2024@vitstudent.ac.in)</a:t>
            </a:r>
            <a:endParaRPr sz="1300" b="0" i="1" strike="noStrike" cap="none" dirty="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Bef>
                <a:spcPts val="300"/>
              </a:spcBef>
            </a:pPr>
            <a:r>
              <a:rPr lang="en-US" sz="1300" b="0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1300" b="0" i="0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300" b="0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Ramarathinam Iye</a:t>
            </a:r>
            <a:r>
              <a:rPr lang="en-US" sz="1300" dirty="0">
                <a:solidFill>
                  <a:srgbClr val="0F172A"/>
                </a:solidFill>
              </a:rPr>
              <a:t>r </a:t>
            </a:r>
            <a:r>
              <a:rPr lang="en-US" sz="1300" i="1" dirty="0">
                <a:solidFill>
                  <a:srgbClr val="0F172A"/>
                </a:solidFill>
              </a:rPr>
              <a:t>(ramarathinamiyer.vv2024@vitstudent.ac.in)</a:t>
            </a:r>
            <a:endParaRPr sz="1300" b="0" i="1" strike="noStrike" cap="none" dirty="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Bef>
                <a:spcPts val="300"/>
              </a:spcBef>
            </a:pPr>
            <a:r>
              <a:rPr lang="en-US" sz="1300" dirty="0">
                <a:solidFill>
                  <a:srgbClr val="0F172A"/>
                </a:solidFill>
              </a:rPr>
              <a:t>Aryaman Tripathi </a:t>
            </a:r>
            <a:r>
              <a:rPr lang="en-US" sz="1300" i="1" dirty="0">
                <a:solidFill>
                  <a:srgbClr val="0F172A"/>
                </a:solidFill>
              </a:rPr>
              <a:t>(aryaman.tripathi2024@vitstudent.ac.in)</a:t>
            </a:r>
          </a:p>
          <a:p>
            <a:pPr lvl="0">
              <a:spcBef>
                <a:spcPts val="300"/>
              </a:spcBef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Submission GitHub link - </a:t>
            </a:r>
            <a:r>
              <a:rPr lang="en-US" sz="1300" b="1" i="0" strike="noStrike" cap="none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https://github.com/AdithyaSanthosh-P/Janus/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Demo video link – </a:t>
            </a:r>
            <a:r>
              <a:rPr lang="en-US" sz="1300" b="1" dirty="0">
                <a:solidFill>
                  <a:srgbClr val="1E3A8A"/>
                </a:solidFill>
              </a:rPr>
              <a:t>Check Readme</a:t>
            </a:r>
            <a:endParaRPr dirty="0"/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25512" y="1024128"/>
            <a:ext cx="45720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6507E5-0A9E-D4B8-4E2B-6085B8D797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087" y="573686"/>
            <a:ext cx="4610423" cy="23798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z="3200" b="1" dirty="0">
                <a:solidFill>
                  <a:srgbClr val="704EA6"/>
                </a:solidFill>
              </a:rPr>
              <a:t>The Problem with Voice Agents Today</a:t>
            </a:r>
            <a:endParaRPr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548640" y="1051560"/>
            <a:ext cx="1106424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spcAft>
                <a:spcPts val="200"/>
              </a:spcAft>
              <a:buSzPts val="2800"/>
              <a:buNone/>
            </a:pPr>
            <a:r>
              <a:rPr sz="1800" b="1">
                <a:solidFill>
                  <a:srgbClr val="7030A0"/>
                </a:solidFill>
                <a:latin typeface="Calibri"/>
              </a:rPr>
              <a:t>The Challenge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000000"/>
                </a:solidFill>
                <a:latin typeface="Calibri"/>
              </a:rPr>
              <a:t>Today's AI voice assistants work in half-duplex mode: they listen, think, then speak. Real conversation is never that clean. Users interrupt mid-sentence, revise parameters on the fly and switch tasks while tools are still running. Existing systems freeze, fail or hallucinate.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7030A0"/>
                </a:solidFill>
                <a:latin typeface="Calibri"/>
              </a:rPr>
              <a:t>The Goal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000000"/>
                </a:solidFill>
                <a:latin typeface="Calibri"/>
              </a:rPr>
              <a:t>Build a full-duplex voice agent that stays responsive: reasoning while listening, cancelling stale work atomically and delivering accurate actions without ever confusing the user.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7030A0"/>
                </a:solidFill>
                <a:latin typeface="Calibri"/>
              </a:rPr>
              <a:t>Existing Solutions and Where They Fail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548640" y="3520440"/>
          <a:ext cx="11064240" cy="15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ChatGPT Voice / GPT-4o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Google Duplex / Assistant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Amazon Alexa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LangGraph / AutoGen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Turn-based with barge-in detection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Pre-scripted dialog flows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Single-turn intent classification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Streaming STT + LLM pipeline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Critical gap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Drops context on interruption; no atomic tool cancellation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Brittle outside narrow domains; cannot handle mid-task repairs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No multi-turn tool state; restarts from scratch on interruption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No real-time audio management or floor control; sequential, not concurrent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4" name="TextBox 103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7030A0"/>
                </a:solidFill>
                <a:latin typeface="Calibri"/>
              </a:rPr>
              <a:t>The gap: </a:t>
            </a:r>
            <a:r>
              <a:rPr sz="1600">
                <a:solidFill>
                  <a:srgbClr val="000000"/>
                </a:solidFill>
                <a:latin typeface="Calibri"/>
              </a:rPr>
              <a:t>no system safely handles continuous audio, in-flight actions and changing intent at the same time. The result is stale actions, false confirmations and double bookings.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z="3200" b="1" dirty="0">
                <a:solidFill>
                  <a:srgbClr val="704EA6"/>
                </a:solidFill>
              </a:rPr>
              <a:t>Our Solution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72E97-D78B-6955-C00D-A56F4151B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005840"/>
            <a:ext cx="11064240" cy="301752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dirty="0">
                <a:solidFill>
                  <a:srgbClr val="7030A0"/>
                </a:solidFill>
                <a:latin typeface="Calibri"/>
              </a:rPr>
              <a:t>Janus: A Single-Writer Coordination Kernel for Full-Duplex Voice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600" dirty="0">
                <a:solidFill>
                  <a:srgbClr val="000000"/>
                </a:solidFill>
                <a:latin typeface="Calibri"/>
              </a:rPr>
              <a:t>Janus solves the three-way concurrency problem with a deterministic 7-phase synchronous step engine (under 5 </a:t>
            </a:r>
            <a:r>
              <a:rPr sz="1600" dirty="0" err="1">
                <a:solidFill>
                  <a:srgbClr val="000000"/>
                </a:solidFill>
                <a:latin typeface="Calibri"/>
              </a:rPr>
              <a:t>ms</a:t>
            </a:r>
            <a:r>
              <a:rPr sz="1600" dirty="0">
                <a:solidFill>
                  <a:srgbClr val="000000"/>
                </a:solidFill>
                <a:latin typeface="Calibri"/>
              </a:rPr>
              <a:t> per step) paired with isolated async workers. All state changes happen inside a single-threaded kernel step, eliminating race conditions by design, not by luck.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dirty="0">
                <a:solidFill>
                  <a:srgbClr val="000000"/>
                </a:solidFill>
                <a:latin typeface="Calibri"/>
              </a:rPr>
              <a:t>Every event, whether a speech chunk, a tool result or a user interruption, passes through the same deterministic pipeline:</a:t>
            </a:r>
            <a:endParaRPr lang="en-US" sz="1600" dirty="0">
              <a:solidFill>
                <a:srgbClr val="000000"/>
              </a:solidFill>
              <a:latin typeface="Calibri"/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endParaRPr sz="1600" dirty="0">
              <a:solidFill>
                <a:srgbClr val="000000"/>
              </a:solidFill>
              <a:latin typeface="Calibri"/>
            </a:endParaRPr>
          </a:p>
          <a:p>
            <a:pPr marL="0" indent="0" algn="ctr">
              <a:spcBef>
                <a:spcPts val="0"/>
              </a:spcBef>
              <a:spcAft>
                <a:spcPts val="800"/>
              </a:spcAft>
              <a:buNone/>
            </a:pPr>
            <a:r>
              <a:rPr sz="1800" b="1" dirty="0">
                <a:solidFill>
                  <a:srgbClr val="7030A0"/>
                </a:solidFill>
                <a:latin typeface="Calibri"/>
              </a:rPr>
              <a:t>DRAIN → ORDER → APPLY → INVALIDATE → DECIDE → EMIT → LOG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1" dirty="0">
                <a:solidFill>
                  <a:srgbClr val="7030A0"/>
                </a:solidFill>
                <a:latin typeface="Calibri"/>
              </a:rPr>
            </a:br>
            <a:br>
              <a:rPr lang="en-US" sz="1800" b="1" dirty="0">
                <a:solidFill>
                  <a:srgbClr val="7030A0"/>
                </a:solidFill>
                <a:latin typeface="Calibri"/>
              </a:rPr>
            </a:br>
            <a:r>
              <a:rPr sz="1800" b="1" dirty="0">
                <a:solidFill>
                  <a:srgbClr val="7030A0"/>
                </a:solidFill>
                <a:latin typeface="Calibri"/>
              </a:rPr>
              <a:t>What Makes Janus Unique</a:t>
            </a:r>
          </a:p>
        </p:txBody>
      </p:sp>
      <p:graphicFrame>
        <p:nvGraphicFramePr>
          <p:cNvPr id="108" name="Table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041627"/>
              </p:ext>
            </p:extLst>
          </p:nvPr>
        </p:nvGraphicFramePr>
        <p:xfrm>
          <a:off x="457200" y="4023360"/>
          <a:ext cx="11247120" cy="1548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Interruption without data loss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Zero duplicate actions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Faster first action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Never talks over the user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Handles "wait, change that"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Chained tool dependencies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How Janus does it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Chunk-anchored cancellation: stale calls are killed mid-utterance, not at end of turn.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00000"/>
                          </a:solidFill>
                          <a:latin typeface="Calibri"/>
                        </a:rPr>
                        <a:t>Fingerprinted, exactly-once writes: a duplicate (tool,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  <a:latin typeface="Calibri"/>
                        </a:rPr>
                        <a:t>args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  <a:latin typeface="Calibri"/>
                        </a:rPr>
                        <a:t>) is blocked.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Compiles the plan directly from the interpretation, with no separate planning call.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Floor rule: never acts or speaks while the user holds the floor.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Read-set checks plus a short settle window catch hesitation before a write commits.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00000"/>
                          </a:solidFill>
                          <a:latin typeface="Calibri"/>
                        </a:rPr>
                        <a:t>Late binding: arguments are resolved from live upstream results.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z="3000" b="1" dirty="0">
                <a:solidFill>
                  <a:srgbClr val="704EA6"/>
                </a:solidFill>
              </a:rPr>
              <a:t>Architecture: Models Propose, the Kernel Decides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5BC0BC-F4F0-5A52-611E-CB0E3F90E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22" y="1298448"/>
            <a:ext cx="11420156" cy="45767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76EC0BCE-9B5C-F011-3911-F7BA684F2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>
            <a:extLst>
              <a:ext uri="{FF2B5EF4-FFF2-40B4-BE49-F238E27FC236}">
                <a16:creationId xmlns:a16="http://schemas.microsoft.com/office/drawing/2014/main" id="{3B6CED97-A3E3-8FD6-0061-ABD6EC311E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z="2800" b="1" dirty="0">
                <a:solidFill>
                  <a:srgbClr val="704EA6"/>
                </a:solidFill>
              </a:rPr>
              <a:t>Extension: Camera-Grounded Device Care, Built for the Samsung Ecosystem</a:t>
            </a:r>
            <a:endParaRPr b="1" dirty="0">
              <a:solidFill>
                <a:srgbClr val="0F172A"/>
              </a:solidFill>
            </a:endParaRPr>
          </a:p>
        </p:txBody>
      </p:sp>
      <p:sp>
        <p:nvSpPr>
          <p:cNvPr id="136" name="Google Shape;136;p6">
            <a:extLst>
              <a:ext uri="{FF2B5EF4-FFF2-40B4-BE49-F238E27FC236}">
                <a16:creationId xmlns:a16="http://schemas.microsoft.com/office/drawing/2014/main" id="{16CE04E1-4DAC-CB83-8E0F-9732EA2469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200" b="1">
                <a:solidFill>
                  <a:srgbClr val="7030A0"/>
                </a:solidFill>
                <a:latin typeface="Calibri"/>
              </a:rPr>
              <a:t>Delivered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Point-and-Ask Diagnostics: </a:t>
            </a:r>
            <a:r>
              <a:rPr sz="1700">
                <a:solidFill>
                  <a:srgbClr val="000000"/>
                </a:solidFill>
                <a:latin typeface="Calibri"/>
              </a:rPr>
              <a:t>the user points a phone camera at an appliance (blinking router LED, washer error code) and speaks naturally, without technical jargon.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Looks before it asks: </a:t>
            </a:r>
            <a:r>
              <a:rPr sz="1700">
                <a:solidFill>
                  <a:srgbClr val="000000"/>
                </a:solidFill>
                <a:latin typeface="Calibri"/>
              </a:rPr>
              <a:t>with the camera on, it reads the device before asking the user a question.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Camera-Grounded Reasoning: </a:t>
            </a:r>
            <a:r>
              <a:rPr sz="1700">
                <a:solidFill>
                  <a:srgbClr val="000000"/>
                </a:solidFill>
                <a:latin typeface="Calibri"/>
              </a:rPr>
              <a:t>the vision worker extracts visual telemetry from video frames to look up diagnostic fixes in real time.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Interruption-Safe Action: </a:t>
            </a:r>
            <a:r>
              <a:rPr sz="1700">
                <a:solidFill>
                  <a:srgbClr val="000000"/>
                </a:solidFill>
                <a:latin typeface="Calibri"/>
              </a:rPr>
              <a:t>mid-utterance date changes ("Book Thursday morning... actually make it Friday") guarantee exactly one technician visit via CommitGate.</a:t>
            </a:r>
          </a:p>
          <a:p>
            <a:pPr marL="0" indent="0">
              <a:spcBef>
                <a:spcPts val="1400"/>
              </a:spcBef>
              <a:spcAft>
                <a:spcPts val="800"/>
              </a:spcAft>
              <a:buNone/>
            </a:pPr>
            <a:r>
              <a:rPr sz="2200" b="1">
                <a:solidFill>
                  <a:srgbClr val="7030A0"/>
                </a:solidFill>
                <a:latin typeface="Calibri"/>
              </a:rPr>
              <a:t>Roadmap: Samsung Integration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Galaxy AI &amp; Bixby: </a:t>
            </a:r>
            <a:r>
              <a:rPr sz="1700">
                <a:solidFill>
                  <a:srgbClr val="000000"/>
                </a:solidFill>
                <a:latin typeface="Calibri"/>
              </a:rPr>
              <a:t>direct integration into the Galaxy Camera viewfinder for hands-free, real-time visual troubleshooting.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SmartThings Ecosystem: </a:t>
            </a:r>
            <a:r>
              <a:rPr sz="1700">
                <a:solidFill>
                  <a:srgbClr val="000000"/>
                </a:solidFill>
                <a:latin typeface="Calibri"/>
              </a:rPr>
              <a:t>correlates live camera feeds with IoT diagnostics across Bespoke Refrigerators, Washers, ACs and Smart TVs.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Samsung Care+ Automation: </a:t>
            </a:r>
            <a:r>
              <a:rPr sz="1700">
                <a:solidFill>
                  <a:srgbClr val="000000"/>
                </a:solidFill>
                <a:latin typeface="Calibri"/>
              </a:rPr>
              <a:t>safe, automated service booking and ticket dispatch with fingerprinted, exactly-once bookings.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On-Device NPU Ready: </a:t>
            </a:r>
            <a:r>
              <a:rPr sz="1700">
                <a:solidFill>
                  <a:srgbClr val="000000"/>
                </a:solidFill>
                <a:latin typeface="Calibri"/>
              </a:rPr>
              <a:t>the lightweight kernel and local audio stack can run on Samsung Exynos / Snapdragon NPUs alongside Samsung Gauss models.</a:t>
            </a:r>
          </a:p>
        </p:txBody>
      </p:sp>
    </p:spTree>
    <p:extLst>
      <p:ext uri="{BB962C8B-B14F-4D97-AF65-F5344CB8AC3E}">
        <p14:creationId xmlns:p14="http://schemas.microsoft.com/office/powerpoint/2010/main" val="3975544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3200" b="1" dirty="0">
                <a:solidFill>
                  <a:srgbClr val="704EA6"/>
                </a:solidFill>
              </a:rPr>
              <a:t>Innovation &amp; Results</a:t>
            </a:r>
            <a:endParaRPr dirty="0"/>
          </a:p>
        </p:txBody>
      </p:sp>
      <p:sp>
        <p:nvSpPr>
          <p:cNvPr id="142" name="Google Shape;142;p8"/>
          <p:cNvSpPr txBox="1">
            <a:spLocks noGrp="1"/>
          </p:cNvSpPr>
          <p:nvPr>
            <p:ph type="body" idx="1"/>
          </p:nvPr>
        </p:nvSpPr>
        <p:spPr>
          <a:xfrm>
            <a:off x="411480" y="960120"/>
            <a:ext cx="425196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spcAft>
                <a:spcPts val="500"/>
              </a:spcAft>
              <a:buSzPct val="119507"/>
              <a:buNone/>
            </a:pPr>
            <a:r>
              <a:rPr sz="1400" b="1" dirty="0">
                <a:solidFill>
                  <a:srgbClr val="7030A0"/>
                </a:solidFill>
                <a:latin typeface="Calibri"/>
              </a:rPr>
              <a:t>Key Innovations: Why Janus Is Different</a:t>
            </a: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1" dirty="0">
                <a:solidFill>
                  <a:srgbClr val="7030A0"/>
                </a:solidFill>
                <a:latin typeface="Calibri"/>
              </a:rPr>
              <a:t>Single-writer safety kernel (under 5 </a:t>
            </a:r>
            <a:r>
              <a:rPr sz="1400" b="1" dirty="0" err="1">
                <a:solidFill>
                  <a:srgbClr val="7030A0"/>
                </a:solidFill>
                <a:latin typeface="Calibri"/>
              </a:rPr>
              <a:t>ms</a:t>
            </a:r>
            <a:r>
              <a:rPr sz="1400" b="1" dirty="0">
                <a:solidFill>
                  <a:srgbClr val="7030A0"/>
                </a:solidFill>
                <a:latin typeface="Calibri"/>
              </a:rPr>
              <a:t> per step). </a:t>
            </a:r>
            <a:r>
              <a:rPr sz="1400" dirty="0">
                <a:solidFill>
                  <a:srgbClr val="000000"/>
                </a:solidFill>
                <a:latin typeface="Calibri"/>
              </a:rPr>
              <a:t>Models only propose; a synchronous kernel arbitrates every state change and tool call.</a:t>
            </a:r>
            <a:endParaRPr lang="en-US" sz="1400" dirty="0">
              <a:solidFill>
                <a:srgbClr val="000000"/>
              </a:solidFill>
              <a:latin typeface="Calibri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sz="1400" dirty="0">
              <a:solidFill>
                <a:srgbClr val="000000"/>
              </a:solidFill>
              <a:latin typeface="Calibri"/>
            </a:endParaRP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1" dirty="0">
                <a:solidFill>
                  <a:srgbClr val="7030A0"/>
                </a:solidFill>
                <a:latin typeface="Calibri"/>
              </a:rPr>
              <a:t>Same-step cancellation with read sets. </a:t>
            </a:r>
            <a:r>
              <a:rPr sz="1400" dirty="0">
                <a:solidFill>
                  <a:srgbClr val="000000"/>
                </a:solidFill>
                <a:latin typeface="Calibri"/>
              </a:rPr>
              <a:t>Every result records the (fact, version, digest) it read; if one changes, that work is cancelled in the same step.</a:t>
            </a:r>
            <a:endParaRPr lang="en-US" sz="1400" dirty="0">
              <a:solidFill>
                <a:srgbClr val="000000"/>
              </a:solidFill>
              <a:latin typeface="Calibri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sz="1400" dirty="0">
              <a:solidFill>
                <a:srgbClr val="000000"/>
              </a:solidFill>
              <a:latin typeface="Calibri"/>
            </a:endParaRP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1" dirty="0" err="1">
                <a:solidFill>
                  <a:srgbClr val="7030A0"/>
                </a:solidFill>
                <a:latin typeface="Calibri"/>
              </a:rPr>
              <a:t>CommitGate</a:t>
            </a:r>
            <a:r>
              <a:rPr sz="1400" b="1" dirty="0">
                <a:solidFill>
                  <a:srgbClr val="7030A0"/>
                </a:solidFill>
                <a:latin typeface="Calibri"/>
              </a:rPr>
              <a:t> (G1–G11) and settle window. </a:t>
            </a:r>
            <a:r>
              <a:rPr sz="1400" dirty="0">
                <a:solidFill>
                  <a:srgbClr val="000000"/>
                </a:solidFill>
                <a:latin typeface="Calibri"/>
              </a:rPr>
              <a:t>Separates speculative reads from irreversible writes, so each write happens exactly once.</a:t>
            </a:r>
            <a:endParaRPr lang="en-US" sz="1400" dirty="0">
              <a:solidFill>
                <a:srgbClr val="000000"/>
              </a:solidFill>
              <a:latin typeface="Calibri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sz="1400" dirty="0">
              <a:solidFill>
                <a:srgbClr val="000000"/>
              </a:solidFill>
              <a:latin typeface="Calibri"/>
            </a:endParaRP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1" dirty="0">
                <a:solidFill>
                  <a:srgbClr val="7030A0"/>
                </a:solidFill>
                <a:latin typeface="Calibri"/>
              </a:rPr>
              <a:t>Speculative interpretation and floor rule. </a:t>
            </a:r>
            <a:r>
              <a:rPr sz="1400" dirty="0">
                <a:solidFill>
                  <a:srgbClr val="000000"/>
                </a:solidFill>
                <a:latin typeface="Calibri"/>
              </a:rPr>
              <a:t>Pre-interprets speech while the user talks, with zero added latency when the prediction holds.</a:t>
            </a:r>
            <a:endParaRPr lang="en-US" sz="1400" dirty="0">
              <a:solidFill>
                <a:srgbClr val="000000"/>
              </a:solidFill>
              <a:latin typeface="Calibri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sz="1400" dirty="0">
              <a:solidFill>
                <a:srgbClr val="000000"/>
              </a:solidFill>
              <a:latin typeface="Calibri"/>
            </a:endParaRP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1" dirty="0">
                <a:solidFill>
                  <a:srgbClr val="7030A0"/>
                </a:solidFill>
                <a:latin typeface="Calibri"/>
              </a:rPr>
              <a:t>Deterministic replay and automated invariant checks. </a:t>
            </a:r>
            <a:r>
              <a:rPr sz="1400" dirty="0">
                <a:solidFill>
                  <a:srgbClr val="000000"/>
                </a:solidFill>
                <a:latin typeface="Calibri"/>
              </a:rPr>
              <a:t>A stepped virtual clock gives byte-identical replays, audited by the trace checker.</a:t>
            </a:r>
            <a:endParaRPr lang="en-US" sz="1400" dirty="0">
              <a:solidFill>
                <a:srgbClr val="000000"/>
              </a:solidFill>
              <a:latin typeface="Calibri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sz="1400" dirty="0">
              <a:solidFill>
                <a:srgbClr val="000000"/>
              </a:solidFill>
              <a:latin typeface="Calibri"/>
            </a:endParaRP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1" dirty="0">
                <a:solidFill>
                  <a:srgbClr val="7030A0"/>
                </a:solidFill>
                <a:latin typeface="Calibri"/>
              </a:rPr>
              <a:t>Camera-grounded multimodal safety. </a:t>
            </a:r>
            <a:r>
              <a:rPr sz="1400" dirty="0">
                <a:solidFill>
                  <a:srgbClr val="000000"/>
                </a:solidFill>
                <a:latin typeface="Calibri"/>
              </a:rPr>
              <a:t>1 fps video plus voice for hands-free, interruption-safe troubleshooting.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4892040" y="1005840"/>
            <a:ext cx="2240280" cy="1691640"/>
          </a:xfrm>
          <a:prstGeom prst="roundRect">
            <a:avLst>
              <a:gd name="adj" fmla="val 8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800" b="1" dirty="0">
                <a:solidFill>
                  <a:srgbClr val="FFFFFF"/>
                </a:solidFill>
                <a:latin typeface="Calibri"/>
              </a:rPr>
              <a:t>0.</a:t>
            </a:r>
            <a:r>
              <a:rPr lang="en-US" sz="4800" b="1" dirty="0">
                <a:solidFill>
                  <a:srgbClr val="FFFFFF"/>
                </a:solidFill>
                <a:latin typeface="Calibri"/>
              </a:rPr>
              <a:t>765</a:t>
            </a:r>
            <a:endParaRPr sz="4800" b="1" dirty="0">
              <a:solidFill>
                <a:srgbClr val="FFFFFF"/>
              </a:solidFill>
              <a:latin typeface="Calibri"/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dirty="0">
                <a:solidFill>
                  <a:srgbClr val="FFFFFF"/>
                </a:solidFill>
                <a:latin typeface="Calibri"/>
              </a:rPr>
              <a:t>self-correction Pass@1 on voice vs 0.176 for the published cascaded pipeline</a:t>
            </a:r>
          </a:p>
        </p:txBody>
      </p:sp>
      <p:graphicFrame>
        <p:nvGraphicFramePr>
          <p:cNvPr id="144" name="Table 1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408458"/>
              </p:ext>
            </p:extLst>
          </p:nvPr>
        </p:nvGraphicFramePr>
        <p:xfrm>
          <a:off x="7269480" y="1005840"/>
          <a:ext cx="448056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Self-correction (Table 3)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Pass@1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Janus reasoning core (text replay)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0.824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Janus full voice path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000000"/>
                          </a:solidFill>
                          <a:latin typeface="Calibri"/>
                        </a:rPr>
                        <a:t>0.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/>
                        </a:rPr>
                        <a:t>765</a:t>
                      </a:r>
                      <a:endParaRPr sz="1050" b="1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GPT-Realtime (published)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0.588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Gemini Live 3.1 (published)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0.353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Cascaded pipeline (published)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000000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4892040" y="2788920"/>
            <a:ext cx="68580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7030A0"/>
                </a:solidFill>
                <a:latin typeface="Calibri"/>
              </a:rPr>
              <a:t>Full-Duplex-Bench v3, all 100 scenarios</a:t>
            </a:r>
          </a:p>
        </p:txBody>
      </p:sp>
      <p:graphicFrame>
        <p:nvGraphicFramePr>
          <p:cNvPr id="146" name="Table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8456"/>
              </p:ext>
            </p:extLst>
          </p:nvPr>
        </p:nvGraphicFramePr>
        <p:xfrm>
          <a:off x="4892040" y="3063240"/>
          <a:ext cx="685800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Strict pass@1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Tool selection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Argument accuracy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Response quality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Reasoning core (text replay, Gemini 3.6 Flash, judged)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77.0%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0.959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0.807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0.840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Calibri"/>
                        </a:rPr>
                        <a:t>Full voice path (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Calibri"/>
                        </a:rPr>
                        <a:t>LiveKit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Calibri"/>
                        </a:rPr>
                        <a:t>, 100 recordings, judged)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  <a:r>
                        <a:rPr sz="950" b="1" dirty="0">
                          <a:solidFill>
                            <a:srgbClr val="000000"/>
                          </a:solidFill>
                          <a:latin typeface="Calibri"/>
                        </a:rPr>
                        <a:t>.0% (</a:t>
                      </a:r>
                      <a:r>
                        <a:rPr lang="en-GB" sz="950" b="1" dirty="0">
                          <a:solidFill>
                            <a:srgbClr val="000000"/>
                          </a:solidFill>
                          <a:latin typeface="Calibri"/>
                        </a:rPr>
                        <a:t>68</a:t>
                      </a:r>
                      <a:r>
                        <a:rPr sz="950" b="1" dirty="0">
                          <a:solidFill>
                            <a:srgbClr val="000000"/>
                          </a:solidFill>
                          <a:latin typeface="Calibri"/>
                        </a:rPr>
                        <a:t>% exact)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50" b="0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Calibri"/>
                        </a:rPr>
                        <a:t>959</a:t>
                      </a:r>
                      <a:endParaRPr sz="950" b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Calibri"/>
                        </a:rPr>
                        <a:t>0.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Calibri"/>
                        </a:rPr>
                        <a:t>780</a:t>
                      </a:r>
                      <a:endParaRPr sz="950" b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Calibri"/>
                        </a:rPr>
                        <a:t>0.7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  <a:endParaRPr sz="950" b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Published: GPT-Realtime / Gemini Live 3.1 / Cascaded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60 / 54 / 45%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0.876 / 0.817 / 0.803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0.680 / 0.588 / 0.562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Calibri"/>
                        </a:rPr>
                        <a:t>0.792 / 0.718 / 0.600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7" name="TextBox 146"/>
          <p:cNvSpPr txBox="1"/>
          <p:nvPr/>
        </p:nvSpPr>
        <p:spPr>
          <a:xfrm>
            <a:off x="4892040" y="4663440"/>
            <a:ext cx="6903720" cy="91460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dirty="0">
                <a:solidFill>
                  <a:srgbClr val="7030A0"/>
                </a:solidFill>
                <a:latin typeface="Calibri"/>
              </a:rPr>
              <a:t>By domain (text replay): </a:t>
            </a:r>
            <a:r>
              <a:rPr sz="1050" dirty="0">
                <a:solidFill>
                  <a:srgbClr val="000000"/>
                </a:solidFill>
                <a:latin typeface="Calibri"/>
              </a:rPr>
              <a:t>Finance 100%, Travel 95%, E-commerce 83%, Housing 35%.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dirty="0">
                <a:solidFill>
                  <a:srgbClr val="7030A0"/>
                </a:solidFill>
                <a:latin typeface="Calibri"/>
              </a:rPr>
              <a:t>Latency (voice): </a:t>
            </a:r>
            <a:r>
              <a:rPr sz="1050" dirty="0">
                <a:solidFill>
                  <a:srgbClr val="000000"/>
                </a:solidFill>
                <a:latin typeface="Calibri"/>
              </a:rPr>
              <a:t>7.8 s mean time to first word (6.7 s median) vs 8.78 s for the cascaded pipeline; part of it is deliberate (a turn closes after 1.5 s of silence, and writes wait a short settle window so late corrections land).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dirty="0">
                <a:solidFill>
                  <a:srgbClr val="7030A0"/>
                </a:solidFill>
                <a:latin typeface="Calibri"/>
              </a:rPr>
              <a:t>Engineering: </a:t>
            </a:r>
            <a:r>
              <a:rPr lang="en-US" sz="1050" b="1" dirty="0">
                <a:latin typeface="Calibri"/>
              </a:rPr>
              <a:t>645</a:t>
            </a:r>
            <a:r>
              <a:rPr sz="1050" dirty="0">
                <a:solidFill>
                  <a:srgbClr val="000000"/>
                </a:solidFill>
                <a:latin typeface="Calibri"/>
              </a:rPr>
              <a:t> deterministic tests pass with the trace checker run over every decision log; replays are byte-identical; the adversarial explorer covers 19 race scenarios.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112471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/>
            <a:r>
              <a:rPr lang="en-US" sz="2800" b="1" dirty="0">
                <a:solidFill>
                  <a:srgbClr val="704EA6"/>
                </a:solidFill>
              </a:rPr>
              <a:t>Technology Stack</a:t>
            </a:r>
            <a:br>
              <a:rPr lang="en-US" sz="2800" b="1" dirty="0">
                <a:solidFill>
                  <a:srgbClr val="704EA6"/>
                </a:solidFill>
              </a:rPr>
            </a:br>
            <a:endParaRPr sz="2500" b="1" dirty="0">
              <a:solidFill>
                <a:srgbClr val="0F172A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10767FC-1EAB-DE09-F46A-C3419FCD4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137160"/>
            <a:ext cx="11338560" cy="6720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z="3200" b="1" dirty="0">
                <a:solidFill>
                  <a:srgbClr val="704EA6"/>
                </a:solidFill>
              </a:rPr>
              <a:t>What’s Next</a:t>
            </a:r>
            <a:endParaRPr dirty="0"/>
          </a:p>
        </p:txBody>
      </p:sp>
      <p:sp>
        <p:nvSpPr>
          <p:cNvPr id="148" name="Google Shape;148;p9"/>
          <p:cNvSpPr txBox="1">
            <a:spLocks noGrp="1"/>
          </p:cNvSpPr>
          <p:nvPr>
            <p:ph type="body" idx="1"/>
          </p:nvPr>
        </p:nvSpPr>
        <p:spPr>
          <a:xfrm>
            <a:off x="548640" y="1051560"/>
            <a:ext cx="1106424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01168" lvl="0" indent="-201168">
              <a:spcBef>
                <a:spcPts val="0"/>
              </a:spcBef>
              <a:spcAft>
                <a:spcPts val="200"/>
              </a:spcAft>
              <a:buSzPts val="2800"/>
              <a:buChar char="•"/>
            </a:pPr>
            <a:r>
              <a:rPr sz="1900" b="1" dirty="0">
                <a:solidFill>
                  <a:srgbClr val="7030A0"/>
                </a:solidFill>
                <a:latin typeface="Calibri"/>
              </a:rPr>
              <a:t>Streaming ASR &amp; Entity Recognition</a:t>
            </a:r>
          </a:p>
          <a:p>
            <a:pPr marL="201168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600" dirty="0">
                <a:solidFill>
                  <a:srgbClr val="000000"/>
                </a:solidFill>
                <a:latin typeface="Calibri"/>
              </a:rPr>
              <a:t>Speech-to-text is already hosted (gpt-4o-mini-transcribe). Next: a streaming ASR (NVIDIA Parakeet) for better proper nouns and lower latency.</a:t>
            </a:r>
          </a:p>
          <a:p>
            <a:pPr marL="201168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1600" b="1" i="1" dirty="0">
                <a:solidFill>
                  <a:srgbClr val="704EA6"/>
                </a:solidFill>
                <a:latin typeface="Calibri"/>
              </a:rPr>
              <a:t>→ Fewer misheard cities and model numbers</a:t>
            </a:r>
          </a:p>
          <a:p>
            <a:pPr marL="201168" indent="-201168"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900" b="1" dirty="0">
                <a:solidFill>
                  <a:srgbClr val="7030A0"/>
                </a:solidFill>
                <a:latin typeface="Calibri"/>
              </a:rPr>
              <a:t>Proactive Dialogue &amp; Multi-Slot Reasoning</a:t>
            </a:r>
          </a:p>
          <a:p>
            <a:pPr marL="201168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600" dirty="0">
                <a:solidFill>
                  <a:srgbClr val="000000"/>
                </a:solidFill>
                <a:latin typeface="Calibri"/>
              </a:rPr>
              <a:t>Move from passive settle-time barriers to clarification dialogues ("I found two options, shall I book the 6 PM one?") and better handling of complex multi-constraint queries (Housing).</a:t>
            </a:r>
          </a:p>
          <a:p>
            <a:pPr marL="201168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1600" b="1" i="1" dirty="0">
                <a:solidFill>
                  <a:srgbClr val="704EA6"/>
                </a:solidFill>
                <a:latin typeface="Calibri"/>
              </a:rPr>
              <a:t>→ Fewer wrong bookings on hard requests</a:t>
            </a:r>
          </a:p>
          <a:p>
            <a:pPr marL="201168" indent="-201168"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900" b="1" dirty="0">
                <a:solidFill>
                  <a:srgbClr val="7030A0"/>
                </a:solidFill>
                <a:latin typeface="Calibri"/>
              </a:rPr>
              <a:t>Temporal Video Diagnostics</a:t>
            </a:r>
          </a:p>
          <a:p>
            <a:pPr marL="201168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600" dirty="0">
                <a:solidFill>
                  <a:srgbClr val="000000"/>
                </a:solidFill>
                <a:latin typeface="Calibri"/>
              </a:rPr>
              <a:t>Upgrade from 1 fps still frames to multi-frame analysis to detect high-frequency blinking LED patterns and dynamic appliance states.</a:t>
            </a:r>
          </a:p>
          <a:p>
            <a:pPr marL="201168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1600" b="1" i="1" dirty="0">
                <a:solidFill>
                  <a:srgbClr val="704EA6"/>
                </a:solidFill>
                <a:latin typeface="Calibri"/>
              </a:rPr>
              <a:t>→ Reads blinking-LED codes without a spoken cue</a:t>
            </a:r>
          </a:p>
          <a:p>
            <a:pPr marL="201168" indent="-201168"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900" b="1" dirty="0">
                <a:solidFill>
                  <a:srgbClr val="7030A0"/>
                </a:solidFill>
                <a:latin typeface="Calibri"/>
              </a:rPr>
              <a:t>On-Device NPU Porting (Galaxy AI)</a:t>
            </a:r>
          </a:p>
          <a:p>
            <a:pPr marL="201168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600" dirty="0">
                <a:solidFill>
                  <a:srgbClr val="000000"/>
                </a:solidFill>
                <a:latin typeface="Calibri"/>
              </a:rPr>
              <a:t>Port the lightweight synchronous kernel and local speech stack to Samsung </a:t>
            </a:r>
            <a:r>
              <a:rPr sz="1600" dirty="0" err="1">
                <a:solidFill>
                  <a:srgbClr val="000000"/>
                </a:solidFill>
                <a:latin typeface="Calibri"/>
              </a:rPr>
              <a:t>Exynos</a:t>
            </a:r>
            <a:r>
              <a:rPr sz="1600" dirty="0">
                <a:solidFill>
                  <a:srgbClr val="000000"/>
                </a:solidFill>
                <a:latin typeface="Calibri"/>
              </a:rPr>
              <a:t> / Snapdragon NPUs for offline, ultra-low-latency execution.</a:t>
            </a:r>
          </a:p>
          <a:p>
            <a:pPr marL="201168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1600" b="1" i="1" dirty="0">
                <a:solidFill>
                  <a:srgbClr val="704EA6"/>
                </a:solidFill>
                <a:latin typeface="Calibri"/>
              </a:rPr>
              <a:t>→ Galaxy devices, offline</a:t>
            </a:r>
          </a:p>
          <a:p>
            <a:pPr marL="201168" indent="-201168"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900" b="1" dirty="0">
                <a:solidFill>
                  <a:srgbClr val="7030A0"/>
                </a:solidFill>
                <a:latin typeface="Calibri"/>
              </a:rPr>
              <a:t>Production Samsung Ecosystem Bridge</a:t>
            </a:r>
          </a:p>
          <a:p>
            <a:pPr marL="201168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600" dirty="0">
                <a:solidFill>
                  <a:srgbClr val="000000"/>
                </a:solidFill>
                <a:latin typeface="Calibri"/>
              </a:rPr>
              <a:t>Plug Samsung Gauss / Bixby in as the reasoning engine via the existing </a:t>
            </a:r>
            <a:r>
              <a:rPr sz="1600" dirty="0" err="1">
                <a:solidFill>
                  <a:srgbClr val="000000"/>
                </a:solidFill>
                <a:latin typeface="Calibri"/>
              </a:rPr>
              <a:t>ModelGateway</a:t>
            </a:r>
            <a:r>
              <a:rPr sz="1600" dirty="0">
                <a:solidFill>
                  <a:srgbClr val="000000"/>
                </a:solidFill>
                <a:latin typeface="Calibri"/>
              </a:rPr>
              <a:t>, plus direct SmartThings and Samsung Care+ APIs for live appliance telemetry, error-code lookup and automated technician dispatch.</a:t>
            </a:r>
          </a:p>
          <a:p>
            <a:pPr marL="201168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1600" b="1" i="1" dirty="0">
                <a:solidFill>
                  <a:srgbClr val="704EA6"/>
                </a:solidFill>
                <a:latin typeface="Calibri"/>
              </a:rPr>
              <a:t>→ Real Samsung devices, real service tickets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1372</Words>
  <Application>Microsoft Office PowerPoint</Application>
  <PresentationFormat>Widescreen</PresentationFormat>
  <Paragraphs>138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The Problem with Voice Agents Today</vt:lpstr>
      <vt:lpstr>Our Solution</vt:lpstr>
      <vt:lpstr>Architecture: Models Propose, the Kernel Decides</vt:lpstr>
      <vt:lpstr>Extension: Camera-Grounded Device Care, Built for the Samsung Ecosystem</vt:lpstr>
      <vt:lpstr>Innovation &amp; Results</vt:lpstr>
      <vt:lpstr>Technology Stack </vt:lpstr>
      <vt:lpstr>What’s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Eldo John Giby</cp:lastModifiedBy>
  <cp:revision>8</cp:revision>
  <dcterms:created xsi:type="dcterms:W3CDTF">2026-09-07T12:01:01Z</dcterms:created>
  <dcterms:modified xsi:type="dcterms:W3CDTF">2026-10-04T18:18:32Z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