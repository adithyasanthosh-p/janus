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9" r:id="rId8"/>
    <p:sldId id="260" r:id="rId9"/>
    <p:sldId id="263" r:id="rId12"/>
    <p:sldId id="262" r:id="rId11"/>
    <p:sldId id="261" r:id="rId10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400" b="0"/>
              <a:t>Theme ID - Theme 05: Interruptible Real-Time Agents</a:t>
            </a:r>
            <a:endParaRPr/>
          </a:p>
          <a:p>
            <a:r>
              <a:rPr sz="1400" b="0"/>
              <a:t>Team Name - [TEAM NAME]</a:t>
            </a:r>
          </a:p>
          <a:p>
            <a:r>
              <a:rPr sz="1400" b="0"/>
              <a:t>College Name - [COLLEGE NAME]</a:t>
            </a:r>
          </a:p>
          <a:p>
            <a:r>
              <a:rPr sz="1400" b="0"/>
              <a:t>Member - [Member 1 name &amp; email]</a:t>
            </a:r>
          </a:p>
          <a:p>
            <a:r>
              <a:rPr sz="1400" b="0"/>
              <a:t>Member - [Member 2 name &amp; email]</a:t>
            </a:r>
          </a:p>
          <a:p>
            <a:r>
              <a:rPr sz="1400" b="0"/>
              <a:t>Submission Github link - [public GitHub URL]</a:t>
            </a: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20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/>
              <a:t>Problem: an agent that acts is unsafe to interrupt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22960" y="1463040"/>
            <a:ext cx="9692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2200" b="0"/>
              <a:t>People change their mind mid-sentence: “book Thursday … no wait, Friday”.</a:t>
            </a:r>
            <a:endParaRPr/>
          </a:p>
          <a:p>
            <a:r>
              <a:rPr sz="2200" b="0"/>
              <a:t>An LLM in a loop books twice, books the old value, or announces success it did not achieve.</a:t>
            </a:r>
          </a:p>
          <a:p>
            <a:r>
              <a:rPr sz="2200" b="0"/>
              <a:t>Full-Duplex-Bench v3 tests exactly this over real audio: disfluent speech, self-corrections, multi-step tasks, and it scores strict Pass@1. The best published system passes 60%.</a:t>
            </a:r>
          </a:p>
          <a:p>
            <a:r>
              <a:rPr sz="2200" b="0"/>
              <a:t>Our aim: interruption-safe by construction, not by prompting.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320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/>
              <a:t>Solution: models propose, one kernel decides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7680960" y="1463040"/>
            <a:ext cx="30175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Workers only return proposals; the kernel never awaits.</a:t>
            </a:r>
            <a:endParaRPr/>
          </a:p>
          <a:p>
            <a:r>
              <a:rPr sz="1600" b="0"/>
              <a:t>Every proposal records the facts it read. A changed fact cancels dependent work in the same step; a reverted value costs nothing.</a:t>
            </a:r>
          </a:p>
          <a:p>
            <a:r>
              <a:rPr sz="1600" b="0"/>
              <a:t>A write passes one gate and is ledgered before it is emitted: no double booking.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57200" y="1554480"/>
            <a:ext cx="155448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1F24"/>
                </a:solidFill>
              </a:rPr>
              <a:t>Audio in</a:t>
            </a:r>
          </a:p>
          <a:p>
            <a:pPr algn="ctr"/>
            <a:r>
              <a:rPr sz="1000" b="0">
                <a:solidFill>
                  <a:srgbClr val="1B1F24"/>
                </a:solidFill>
              </a:rPr>
              <a:t>Silero VAD + Whisper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57200" y="4297680"/>
            <a:ext cx="155448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1F24"/>
                </a:solidFill>
              </a:rPr>
              <a:t>Audio out</a:t>
            </a:r>
          </a:p>
          <a:p>
            <a:pPr algn="ctr"/>
            <a:r>
              <a:rPr sz="1000" b="0">
                <a:solidFill>
                  <a:srgbClr val="1B1F24"/>
                </a:solidFill>
              </a:rPr>
              <a:t>Kokoro TTS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651760" y="1371600"/>
            <a:ext cx="2377440" cy="2011680"/>
          </a:xfrm>
          <a:prstGeom prst="roundRect">
            <a:avLst/>
          </a:prstGeom>
          <a:solidFill>
            <a:srgbClr val="FEF3C7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1F24"/>
                </a:solidFill>
              </a:rPr>
              <a:t>Janus kernel</a:t>
            </a:r>
          </a:p>
          <a:p>
            <a:pPr algn="ctr"/>
            <a:r>
              <a:rPr sz="1100" b="0">
                <a:solidFill>
                  <a:srgbClr val="1B1F24"/>
                </a:solidFill>
              </a:rPr>
              <a:t>one synchronous step,</a:t>
            </a:r>
          </a:p>
          <a:p>
            <a:pPr algn="ctr"/>
            <a:r>
              <a:rPr sz="1100" b="0">
                <a:solidFill>
                  <a:srgbClr val="1B1F24"/>
                </a:solidFill>
              </a:rPr>
              <a:t>sole writer of state</a:t>
            </a:r>
          </a:p>
          <a:p>
            <a:pPr algn="ctr"/>
            <a:r>
              <a:rPr sz="1100" b="0">
                <a:solidFill>
                  <a:srgbClr val="1B1F24"/>
                </a:solidFill>
              </a:rPr>
              <a:t>read-set invalidation</a:t>
            </a:r>
          </a:p>
          <a:p>
            <a:pPr algn="ctr"/>
            <a:r>
              <a:rPr sz="1100" b="0">
                <a:solidFill>
                  <a:srgbClr val="1B1F24"/>
                </a:solidFill>
              </a:rPr>
              <a:t>same-step cancel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651760" y="3840480"/>
            <a:ext cx="2377440" cy="914400"/>
          </a:xfrm>
          <a:prstGeom prst="roundRect">
            <a:avLst/>
          </a:prstGeom>
          <a:solidFill>
            <a:srgbClr val="FEF3C7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1F24"/>
                </a:solidFill>
              </a:rPr>
              <a:t>CommitGate + EmissionGate</a:t>
            </a:r>
          </a:p>
          <a:p>
            <a:pPr algn="ctr"/>
            <a:r>
              <a:rPr sz="1000" b="0">
                <a:solidFill>
                  <a:srgbClr val="1B1F24"/>
                </a:solidFill>
              </a:rPr>
              <a:t>settle · intent · no duplicate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577840" y="1371600"/>
            <a:ext cx="1828800" cy="1005840"/>
          </a:xfrm>
          <a:prstGeom prst="roundRect">
            <a:avLst/>
          </a:prstGeom>
          <a:solidFill>
            <a:srgbClr val="EDE9FE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1F24"/>
                </a:solidFill>
              </a:rPr>
              <a:t>Async workers</a:t>
            </a:r>
          </a:p>
          <a:p>
            <a:pPr algn="ctr"/>
            <a:r>
              <a:rPr sz="1000" b="0">
                <a:solidFill>
                  <a:srgbClr val="1B1F24"/>
                </a:solidFill>
              </a:rPr>
              <a:t>Interpret · Plan</a:t>
            </a:r>
          </a:p>
          <a:p>
            <a:pPr algn="ctr"/>
            <a:r>
              <a:rPr sz="1000" b="0">
                <a:solidFill>
                  <a:srgbClr val="1B1F24"/>
                </a:solidFill>
              </a:rPr>
              <a:t>Compose · Vision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577840" y="2743200"/>
            <a:ext cx="1828800" cy="731520"/>
          </a:xfrm>
          <a:prstGeom prst="roundRect">
            <a:avLst/>
          </a:prstGeom>
          <a:solidFill>
            <a:srgbClr val="EDE9FE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1F24"/>
                </a:solidFill>
              </a:rPr>
              <a:t>Gemini</a:t>
            </a:r>
          </a:p>
          <a:p>
            <a:pPr algn="ctr"/>
            <a:r>
              <a:rPr sz="1000" b="0">
                <a:solidFill>
                  <a:srgbClr val="1B1F24"/>
                </a:solidFill>
              </a:rPr>
              <a:t>(hosted)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577840" y="3931920"/>
            <a:ext cx="1828800" cy="822960"/>
          </a:xfrm>
          <a:prstGeom prst="roundRect">
            <a:avLst/>
          </a:prstGeom>
          <a:solidFill>
            <a:srgbClr val="DCFCE7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1F24"/>
                </a:solidFill>
              </a:rPr>
              <a:t>Tools</a:t>
            </a:r>
          </a:p>
          <a:p>
            <a:pPr algn="ctr"/>
            <a:r>
              <a:rPr sz="1000" b="0">
                <a:solidFill>
                  <a:srgbClr val="1B1F24"/>
                </a:solidFill>
              </a:rPr>
              <a:t>FDB mock APIs /</a:t>
            </a:r>
          </a:p>
          <a:p>
            <a:pPr algn="ctr"/>
            <a:r>
              <a:rPr sz="1000" b="0">
                <a:solidFill>
                  <a:srgbClr val="1B1F24"/>
                </a:solidFill>
              </a:rPr>
              <a:t>device care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2011680" y="1965960"/>
            <a:ext cx="640080" cy="228600"/>
          </a:xfrm>
          <a:prstGeom prst="line">
            <a:avLst/>
          </a:prstGeom>
          <a:ln w="22225">
            <a:solidFill>
              <a:srgbClr val="4B55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840480" y="3383280"/>
            <a:ext cx="0" cy="457200"/>
          </a:xfrm>
          <a:prstGeom prst="line">
            <a:avLst/>
          </a:prstGeom>
          <a:ln w="22225">
            <a:solidFill>
              <a:srgbClr val="4B55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2011680" y="4297680"/>
            <a:ext cx="640080" cy="274320"/>
          </a:xfrm>
          <a:prstGeom prst="line">
            <a:avLst/>
          </a:prstGeom>
          <a:ln w="22225">
            <a:solidFill>
              <a:srgbClr val="4B55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029200" y="1828800"/>
            <a:ext cx="548640" cy="0"/>
          </a:xfrm>
          <a:prstGeom prst="line">
            <a:avLst/>
          </a:prstGeom>
          <a:ln w="22225">
            <a:solidFill>
              <a:srgbClr val="4B55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5029200" y="2148840"/>
            <a:ext cx="548640" cy="228600"/>
          </a:xfrm>
          <a:prstGeom prst="line">
            <a:avLst/>
          </a:prstGeom>
          <a:ln w="22225">
            <a:solidFill>
              <a:srgbClr val="4B55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492240" y="2377440"/>
            <a:ext cx="0" cy="365760"/>
          </a:xfrm>
          <a:prstGeom prst="line">
            <a:avLst/>
          </a:prstGeom>
          <a:ln w="22225">
            <a:solidFill>
              <a:srgbClr val="4B55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029200" y="4297680"/>
            <a:ext cx="548640" cy="0"/>
          </a:xfrm>
          <a:prstGeom prst="line">
            <a:avLst/>
          </a:prstGeom>
          <a:ln w="22225">
            <a:solidFill>
              <a:srgbClr val="4B55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20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/>
              <a:t>An interruption, handled (kernel X-ray)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7315200" y="1463040"/>
            <a:ext cx="34747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User asks about an orange light; 2.4 s later: “sorry, actually red”.</a:t>
            </a:r>
            <a:endParaRPr/>
          </a:p>
          <a:p>
            <a:r>
              <a:rPr sz="1600" b="0"/>
              <a:t>The orange lookup is struck through: invalidated and cancelled in the same step the correction arrives.</a:t>
            </a:r>
          </a:p>
          <a:p>
            <a:r>
              <a:rPr sz="1600" b="0"/>
              <a:t>Re-run with red; one final answer grounded in the red result.</a:t>
            </a:r>
          </a:p>
        </p:txBody>
      </p:sp>
      <p:pic>
        <p:nvPicPr>
          <p:cNvPr id="121" name="Picture 120" descr="correct_a_running_loo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675120" cy="42275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20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/>
              <a:t>Stack, rigour and honest limits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22960" y="1463040"/>
            <a:ext cx="969264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2000" b="0"/>
              <a:t>Stack: LiveKit Agents · Silero VAD · faster-whisper large-v3-turbo · Kokoro-82M · Gemini 3.6 Flash (hosted) · Python 3.11, Docker.</a:t>
            </a:r>
            <a:endParaRPr/>
          </a:p>
          <a:p>
            <a:r>
              <a:rPr sz="2000" b="0"/>
              <a:t>587 deterministic tests (stepped clock, scripted model), TraceChecker on every run, adversarial explorer over 19 race scenarios.</a:t>
            </a:r>
          </a:p>
          <a:p>
            <a:r>
              <a:rPr sz="2000" b="0"/>
              <a:t>One-command reproduction: pinned FDB commit, sha256-checked data, weights baked into the image.</a:t>
            </a:r>
          </a:p>
          <a:p>
            <a:r>
              <a:rPr sz="2000" b="0"/>
              <a:t>Limits: the full voice run predates the turn-ending fixes; housing 35%; the hosted model is not bit-reproducible; the extension's device backend is simulated.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20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/>
              <a:t>Extension: Samsung-style home care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7315200" y="1371600"/>
            <a:ext cx="35661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400" b="0"/>
              <a:t>Router read from the camera; a Samsung washer (codes 4C, 5C, UB, dC) through a SmartThings-shaped status.</a:t>
            </a:r>
            <a:endParaRPr/>
          </a:p>
          <a:p>
            <a:r>
              <a:rPr sz="1400" b="0"/>
              <a:t>“Stop the wash … wait, just pause it”: the pending stop is never sent; pause and the booking go through once.</a:t>
            </a:r>
          </a:p>
          <a:p>
            <a:r>
              <a:rPr sz="1400" b="0"/>
              <a:t>“Resume” while 4C shows: the washer refuses, and the agent says so.</a:t>
            </a:r>
          </a:p>
          <a:p>
            <a:r>
              <a:rPr sz="1400" b="0"/>
              <a:t>Effect ledger per session: committed, withdrawn, refused, duplicates (0).</a:t>
            </a:r>
          </a:p>
          <a:p>
            <a:r>
              <a:rPr sz="1400" b="0"/>
              <a:t>Real: speech, camera, Gemini, the kernel. Simulated: the device and Samsung Care services.</a:t>
            </a:r>
          </a:p>
        </p:txBody>
      </p:sp>
      <p:pic>
        <p:nvPicPr>
          <p:cNvPr id="133" name="Picture 132" descr="withdraw_one_of_two_wr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675120" cy="42275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20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/>
              <a:t>Results on Full-Duplex-Bench v3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22960" y="4617720"/>
            <a:ext cx="9692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400" b="0"/>
              <a:t>Text replay feeds ground-truth transcripts: it measures the reasoning and safety core, not speech or latency. Voice row: all 100 recordings on 30 Sep, before the turn-ending fixes (26 re-run on 2 Oct: 16 pass, was 12).</a:t>
            </a:r>
            <a:endParaRPr/>
          </a:p>
          <a:p>
            <a:r>
              <a:rPr sz="1400" b="0"/>
              <a:t>Housing is weakest (35% text), as for every published system. The organizers' re-run of ./reproduce.sh is what scores.</a:t>
            </a:r>
          </a:p>
        </p:txBody>
      </p:sp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822960" y="1463040"/>
          <a:ext cx="96926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System (FDB-v3, gpt-4o judge)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Pass@1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Tool sel.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Arg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Resp. qual.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Janus, text replay, 100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77.0%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0.840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/>
                        <a:t>Janus, voice over LiveKit, 100 (30 Sep)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0.597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/>
                        <a:t>GPT-Realtime (paper)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0.792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/>
                        <a:t>Gemini Live 3.1 (paper)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0.718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/>
                        <a:t>Cascaded Whisper→GPT-4o→TTS (paper)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0.600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20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/>
              <a:t>What's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22960" y="1463040"/>
            <a:ext cx="969264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2100" b="0"/>
              <a:t>A live SmartThings adapter behind the same tool manifest (the demo's device backend is simulated).</a:t>
            </a:r>
            <a:endParaRPr/>
          </a:p>
          <a:p>
            <a:r>
              <a:rPr sz="2100" b="0"/>
              <a:t>Measure the full 100-recording voice path on organizer-class hardware and close the housing gap.</a:t>
            </a:r>
          </a:p>
          <a:p>
            <a:r>
              <a:rPr sz="2100" b="0"/>
              <a:t>Samsung worklet: one safe action layer for any device manifest, so a phone, TV or appliance gets interruption-safe voice control from its tool list alone.</a:t>
            </a:r>
          </a:p>
          <a:p>
            <a:r>
              <a:rPr sz="2100" b="0"/>
              <a:t>On-device speech and a small local decision model behind the same kernel.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